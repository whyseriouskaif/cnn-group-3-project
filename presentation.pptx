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1645920"/>
            <a:ext cx="10728655" cy="1645920"/>
          </a:xfrm>
          <a:prstGeom prst="rect">
            <a:avLst/>
          </a:prstGeom>
          <a:noFill/>
        </p:spPr>
        <p:txBody>
          <a:bodyPr wrap="square">
            <a:spAutoFit/>
          </a:bodyPr>
          <a:lstStyle/>
          <a:p>
            <a:pPr algn="ctr">
              <a:lnSpc>
                <a:spcPct val="115000"/>
              </a:lnSpc>
              <a:spcAft>
                <a:spcPts val="600"/>
              </a:spcAft>
              <a:defRPr sz="3800" b="1" i="0">
                <a:solidFill>
                  <a:srgbClr val="FBBF24"/>
                </a:solidFill>
                <a:latin typeface="Georgia"/>
              </a:defRPr>
            </a:pPr>
            <a:r>
              <a:t>Optimization Dynamics and Sequence Generation in Deep Learning</a:t>
            </a:r>
          </a:p>
          <a:p>
            <a:pPr algn="ctr">
              <a:lnSpc>
                <a:spcPct val="115000"/>
              </a:lnSpc>
              <a:spcAft>
                <a:spcPts val="600"/>
              </a:spcAft>
              <a:defRPr sz="2000" b="0" i="1">
                <a:solidFill>
                  <a:srgbClr val="94A3B8"/>
                </a:solidFill>
                <a:latin typeface="Calibri"/>
              </a:defRPr>
            </a:pPr>
            <a:r>
              <a:t>Comparative Analysis of Batch Normalization &amp; Character-Level LSTMs</a:t>
            </a:r>
          </a:p>
        </p:txBody>
      </p:sp>
      <p:sp>
        <p:nvSpPr>
          <p:cNvPr id="3" name="Rectangle 2"/>
          <p:cNvSpPr/>
          <p:nvPr/>
        </p:nvSpPr>
        <p:spPr>
          <a:xfrm>
            <a:off x="1371600" y="4114800"/>
            <a:ext cx="944849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389120"/>
            <a:ext cx="4572000" cy="2011680"/>
          </a:xfrm>
          <a:prstGeom prst="rect">
            <a:avLst/>
          </a:prstGeom>
          <a:noFill/>
        </p:spPr>
        <p:txBody>
          <a:bodyPr wrap="square">
            <a:spAutoFit/>
          </a:bodyPr>
          <a:lstStyle/>
          <a:p>
            <a:pPr>
              <a:lnSpc>
                <a:spcPct val="115000"/>
              </a:lnSpc>
              <a:spcAft>
                <a:spcPts val="200"/>
              </a:spcAft>
              <a:defRPr sz="1400" b="1" i="0">
                <a:solidFill>
                  <a:srgbClr val="FFFFFF"/>
                </a:solidFill>
                <a:latin typeface="Georgia"/>
              </a:defRPr>
            </a:pPr>
            <a:r>
              <a:t>MD Kaif Molla</a:t>
            </a:r>
          </a:p>
          <a:p>
            <a:pPr>
              <a:lnSpc>
                <a:spcPct val="115000"/>
              </a:lnSpc>
              <a:spcAft>
                <a:spcPts val="1200"/>
              </a:spcAft>
              <a:defRPr sz="1200" b="0" i="0">
                <a:solidFill>
                  <a:srgbClr val="94A3B8"/>
                </a:solidFill>
                <a:latin typeface="Calibri"/>
              </a:defRPr>
            </a:pPr>
            <a:r>
              <a:t>md.24bcs10221@sst.scaler.com</a:t>
            </a:r>
          </a:p>
          <a:p>
            <a:pPr>
              <a:lnSpc>
                <a:spcPct val="115000"/>
              </a:lnSpc>
              <a:spcAft>
                <a:spcPts val="200"/>
              </a:spcAft>
              <a:defRPr sz="1400" b="1" i="0">
                <a:solidFill>
                  <a:srgbClr val="FFFFFF"/>
                </a:solidFill>
                <a:latin typeface="Georgia"/>
              </a:defRPr>
            </a:pPr>
            <a:r>
              <a:t>Arhan Das</a:t>
            </a:r>
          </a:p>
          <a:p>
            <a:pPr>
              <a:lnSpc>
                <a:spcPct val="115000"/>
              </a:lnSpc>
              <a:spcAft>
                <a:spcPts val="1200"/>
              </a:spcAft>
              <a:defRPr sz="1200" b="0" i="0">
                <a:solidFill>
                  <a:srgbClr val="94A3B8"/>
                </a:solidFill>
                <a:latin typeface="Calibri"/>
              </a:defRPr>
            </a:pPr>
            <a:r>
              <a:t>Arhan.24bcs10023@sst.scaler.com</a:t>
            </a:r>
          </a:p>
          <a:p>
            <a:pPr>
              <a:lnSpc>
                <a:spcPct val="115000"/>
              </a:lnSpc>
              <a:spcAft>
                <a:spcPts val="200"/>
              </a:spcAft>
              <a:defRPr sz="1400" b="1" i="0">
                <a:solidFill>
                  <a:srgbClr val="FFFFFF"/>
                </a:solidFill>
                <a:latin typeface="Georgia"/>
              </a:defRPr>
            </a:pPr>
            <a:r>
              <a:t>Sumit Akhuli</a:t>
            </a:r>
          </a:p>
          <a:p>
            <a:pPr>
              <a:lnSpc>
                <a:spcPct val="115000"/>
              </a:lnSpc>
              <a:spcAft>
                <a:spcPts val="600"/>
              </a:spcAft>
              <a:defRPr sz="1200" b="0" i="0">
                <a:solidFill>
                  <a:srgbClr val="94A3B8"/>
                </a:solidFill>
                <a:latin typeface="Calibri"/>
              </a:defRPr>
            </a:pPr>
            <a:r>
              <a:t>Sumit.24bcs10158@sst.scaler.com</a:t>
            </a:r>
          </a:p>
        </p:txBody>
      </p:sp>
      <p:sp>
        <p:nvSpPr>
          <p:cNvPr id="5" name="TextBox 4"/>
          <p:cNvSpPr txBox="1"/>
          <p:nvPr/>
        </p:nvSpPr>
        <p:spPr>
          <a:xfrm>
            <a:off x="6217920" y="4389120"/>
            <a:ext cx="4572000" cy="2011680"/>
          </a:xfrm>
          <a:prstGeom prst="rect">
            <a:avLst/>
          </a:prstGeom>
          <a:noFill/>
        </p:spPr>
        <p:txBody>
          <a:bodyPr wrap="square">
            <a:spAutoFit/>
          </a:bodyPr>
          <a:lstStyle/>
          <a:p>
            <a:pPr>
              <a:lnSpc>
                <a:spcPct val="115000"/>
              </a:lnSpc>
              <a:spcAft>
                <a:spcPts val="200"/>
              </a:spcAft>
              <a:defRPr sz="1400" b="1" i="0">
                <a:solidFill>
                  <a:srgbClr val="FFFFFF"/>
                </a:solidFill>
                <a:latin typeface="Georgia"/>
              </a:defRPr>
            </a:pPr>
            <a:r>
              <a:t>Sarthak Mishra</a:t>
            </a:r>
          </a:p>
          <a:p>
            <a:pPr>
              <a:lnSpc>
                <a:spcPct val="115000"/>
              </a:lnSpc>
              <a:spcAft>
                <a:spcPts val="1200"/>
              </a:spcAft>
              <a:defRPr sz="1200" b="0" i="0">
                <a:solidFill>
                  <a:srgbClr val="94A3B8"/>
                </a:solidFill>
                <a:latin typeface="Calibri"/>
              </a:defRPr>
            </a:pPr>
            <a:r>
              <a:t>Sarthak.24bcs10470@sst.scaler.com</a:t>
            </a:r>
          </a:p>
          <a:p>
            <a:pPr>
              <a:lnSpc>
                <a:spcPct val="115000"/>
              </a:lnSpc>
              <a:spcAft>
                <a:spcPts val="200"/>
              </a:spcAft>
              <a:defRPr sz="1400" b="1" i="0">
                <a:solidFill>
                  <a:srgbClr val="FFFFFF"/>
                </a:solidFill>
                <a:latin typeface="Georgia"/>
              </a:defRPr>
            </a:pPr>
            <a:r>
              <a:t>Netram Faran</a:t>
            </a:r>
          </a:p>
          <a:p>
            <a:pPr>
              <a:lnSpc>
                <a:spcPct val="115000"/>
              </a:lnSpc>
              <a:spcAft>
                <a:spcPts val="1200"/>
              </a:spcAft>
              <a:defRPr sz="1200" b="0" i="0">
                <a:solidFill>
                  <a:srgbClr val="94A3B8"/>
                </a:solidFill>
                <a:latin typeface="Calibri"/>
              </a:defRPr>
            </a:pPr>
            <a:r>
              <a:t>netram.24bcs10329@sst.scaler.com</a:t>
            </a:r>
          </a:p>
          <a:p>
            <a:pPr>
              <a:lnSpc>
                <a:spcPct val="115000"/>
              </a:lnSpc>
              <a:spcAft>
                <a:spcPts val="200"/>
              </a:spcAft>
              <a:defRPr sz="1400" b="1" i="0">
                <a:solidFill>
                  <a:srgbClr val="FFFFFF"/>
                </a:solidFill>
                <a:latin typeface="Georgia"/>
              </a:defRPr>
            </a:pPr>
            <a:r>
              <a:t>Aditya Prasad</a:t>
            </a:r>
          </a:p>
          <a:p>
            <a:pPr>
              <a:lnSpc>
                <a:spcPct val="115000"/>
              </a:lnSpc>
              <a:spcAft>
                <a:spcPts val="600"/>
              </a:spcAft>
              <a:defRPr sz="1200" b="0" i="0">
                <a:solidFill>
                  <a:srgbClr val="94A3B8"/>
                </a:solidFill>
                <a:latin typeface="Calibri"/>
              </a:defRPr>
            </a:pPr>
            <a:r>
              <a:t>aditya.24bcs10179@sst.scaler.com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Task 1: AI Story Continuation Overview</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Project Objective</a:t>
            </a:r>
          </a:p>
          <a:p>
            <a:pPr>
              <a:lnSpc>
                <a:spcPct val="115000"/>
              </a:lnSpc>
              <a:spcAft>
                <a:spcPts val="1200"/>
              </a:spcAft>
              <a:defRPr sz="1400" b="0" i="0">
                <a:solidFill>
                  <a:srgbClr val="D1D5DB"/>
                </a:solidFill>
                <a:latin typeface="Calibri"/>
              </a:defRPr>
            </a:pPr>
            <a:r>
              <a:t>• Train a character-level Stacked LSTM network to generate story continuations from text prompts.</a:t>
            </a:r>
          </a:p>
          <a:p>
            <a:pPr>
              <a:lnSpc>
                <a:spcPct val="115000"/>
              </a:lnSpc>
              <a:spcAft>
                <a:spcPts val="1200"/>
              </a:spcAft>
              <a:defRPr sz="1400" b="0" i="0">
                <a:solidFill>
                  <a:srgbClr val="D1D5DB"/>
                </a:solidFill>
                <a:latin typeface="Calibri"/>
              </a:defRPr>
            </a:pPr>
            <a:r>
              <a:t>• Forces the model to learn spelling, grammar, punctuation, and style from scratch, without using pre-defined word tokens.</a:t>
            </a:r>
          </a:p>
          <a:p>
            <a:pPr>
              <a:lnSpc>
                <a:spcPct val="115000"/>
              </a:lnSpc>
              <a:spcAft>
                <a:spcPts val="600"/>
              </a:spcAft>
              <a:defRPr sz="1400" b="0" i="0">
                <a:solidFill>
                  <a:srgbClr val="D1D5DB"/>
                </a:solidFill>
                <a:latin typeface="Calibri"/>
              </a:defRPr>
            </a:pPr>
            <a:r>
              <a:t>• Serves as an illustration of sequence representation learning directly from raw text sequences.</a:t>
            </a:r>
          </a:p>
        </p:txBody>
      </p:sp>
      <p:sp>
        <p:nvSpPr>
          <p:cNvPr id="6" name="Rounded Rectangle 5"/>
          <p:cNvSpPr/>
          <p:nvPr/>
        </p:nvSpPr>
        <p:spPr>
          <a:xfrm>
            <a:off x="6339535"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Core Questions Explored</a:t>
            </a:r>
          </a:p>
          <a:p>
            <a:pPr>
              <a:lnSpc>
                <a:spcPct val="115000"/>
              </a:lnSpc>
              <a:spcAft>
                <a:spcPts val="1200"/>
              </a:spcAft>
              <a:defRPr sz="1400" b="0" i="0">
                <a:solidFill>
                  <a:srgbClr val="D1D5DB"/>
                </a:solidFill>
                <a:latin typeface="Calibri"/>
              </a:defRPr>
            </a:pPr>
            <a:r>
              <a:t>• Representation Learning: Can a model learn English syntax and style entirely at the character level?</a:t>
            </a:r>
          </a:p>
          <a:p>
            <a:pPr>
              <a:lnSpc>
                <a:spcPct val="115000"/>
              </a:lnSpc>
              <a:spcAft>
                <a:spcPts val="1200"/>
              </a:spcAft>
              <a:defRPr sz="1400" b="0" i="0">
                <a:solidFill>
                  <a:srgbClr val="D1D5DB"/>
                </a:solidFill>
                <a:latin typeface="Calibri"/>
              </a:defRPr>
            </a:pPr>
            <a:r>
              <a:t>• Decoding Strategies: How does deterministic greedy decoding compare to temperature-based probabilistic sampling?</a:t>
            </a:r>
          </a:p>
          <a:p>
            <a:pPr>
              <a:lnSpc>
                <a:spcPct val="115000"/>
              </a:lnSpc>
              <a:spcAft>
                <a:spcPts val="600"/>
              </a:spcAft>
              <a:defRPr sz="1400" b="0" i="0">
                <a:solidFill>
                  <a:srgbClr val="D1D5DB"/>
                </a:solidFill>
                <a:latin typeface="Calibri"/>
              </a:defRPr>
            </a:pPr>
            <a:r>
              <a:t>• Stylistic Nuance: How does the style of the training corpus affect the vocabulary, tone, and pacing of the generated output?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Sequence Modeling: LSTM Architecture</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800"/>
              </a:spcAft>
              <a:defRPr sz="1800" b="1" i="0">
                <a:solidFill>
                  <a:srgbClr val="FBBF24"/>
                </a:solidFill>
                <a:latin typeface="Georgia"/>
              </a:defRPr>
            </a:pPr>
            <a:r>
              <a:t>Why LSTM &amp; Gating Mechanism?</a:t>
            </a:r>
          </a:p>
          <a:p>
            <a:pPr>
              <a:lnSpc>
                <a:spcPct val="115000"/>
              </a:lnSpc>
              <a:spcAft>
                <a:spcPts val="800"/>
              </a:spcAft>
              <a:defRPr sz="1200" b="0" i="0">
                <a:solidFill>
                  <a:srgbClr val="D1D5DB"/>
                </a:solidFill>
                <a:latin typeface="Calibri"/>
              </a:defRPr>
            </a:pPr>
            <a:r>
              <a:t>• Vanilla RNNs suffer from vanishing and exploding gradients due to repeated temporal multiplications.</a:t>
            </a:r>
          </a:p>
          <a:p>
            <a:pPr>
              <a:lnSpc>
                <a:spcPct val="115000"/>
              </a:lnSpc>
              <a:spcAft>
                <a:spcPts val="800"/>
              </a:spcAft>
              <a:defRPr sz="1200" b="0" i="0">
                <a:solidFill>
                  <a:srgbClr val="D1D5DB"/>
                </a:solidFill>
                <a:latin typeface="Calibri"/>
              </a:defRPr>
            </a:pPr>
            <a:r>
              <a:t>• LSTM gates control information flow through cell state (Cₜ):</a:t>
            </a:r>
          </a:p>
          <a:p>
            <a:pPr>
              <a:lnSpc>
                <a:spcPct val="115000"/>
              </a:lnSpc>
              <a:spcAft>
                <a:spcPts val="200"/>
              </a:spcAft>
              <a:defRPr sz="1200" b="1" i="0">
                <a:solidFill>
                  <a:srgbClr val="FFFFFF"/>
                </a:solidFill>
                <a:latin typeface="Calibri"/>
              </a:defRPr>
            </a:pPr>
            <a:r>
              <a:t>  - Forget Gate: Decides what history to discard.</a:t>
            </a:r>
          </a:p>
          <a:p>
            <a:pPr>
              <a:lnSpc>
                <a:spcPct val="115000"/>
              </a:lnSpc>
              <a:spcAft>
                <a:spcPts val="600"/>
              </a:spcAft>
              <a:defRPr sz="1300" b="1" i="0">
                <a:solidFill>
                  <a:srgbClr val="FBBF24"/>
                </a:solidFill>
                <a:latin typeface="Georgia"/>
              </a:defRPr>
            </a:pPr>
            <a:r>
              <a:t>      fₜ = σ(W_f · [hₜ₋₁, xₜ] + b_f)</a:t>
            </a:r>
          </a:p>
          <a:p>
            <a:pPr>
              <a:lnSpc>
                <a:spcPct val="115000"/>
              </a:lnSpc>
              <a:spcAft>
                <a:spcPts val="200"/>
              </a:spcAft>
              <a:defRPr sz="1200" b="1" i="0">
                <a:solidFill>
                  <a:srgbClr val="FFFFFF"/>
                </a:solidFill>
                <a:latin typeface="Calibri"/>
              </a:defRPr>
            </a:pPr>
            <a:r>
              <a:t>  - Input Gate: Decides what new details to store in cell state.</a:t>
            </a:r>
          </a:p>
          <a:p>
            <a:pPr>
              <a:lnSpc>
                <a:spcPct val="115000"/>
              </a:lnSpc>
              <a:spcAft>
                <a:spcPts val="600"/>
              </a:spcAft>
              <a:defRPr sz="1300" b="1" i="0">
                <a:solidFill>
                  <a:srgbClr val="FBBF24"/>
                </a:solidFill>
                <a:latin typeface="Georgia"/>
              </a:defRPr>
            </a:pPr>
            <a:r>
              <a:t>      iₜ = σ(W_i · [hₜ₋₁, xₜ] + b_i)</a:t>
            </a:r>
          </a:p>
          <a:p>
            <a:pPr>
              <a:lnSpc>
                <a:spcPct val="115000"/>
              </a:lnSpc>
              <a:spcAft>
                <a:spcPts val="200"/>
              </a:spcAft>
              <a:defRPr sz="1200" b="1" i="0">
                <a:solidFill>
                  <a:srgbClr val="FFFFFF"/>
                </a:solidFill>
                <a:latin typeface="Calibri"/>
              </a:defRPr>
            </a:pPr>
            <a:r>
              <a:t>  - Output Gate: Decides what hidden state (hₜ) to output.</a:t>
            </a:r>
          </a:p>
          <a:p>
            <a:pPr>
              <a:lnSpc>
                <a:spcPct val="115000"/>
              </a:lnSpc>
              <a:spcAft>
                <a:spcPts val="600"/>
              </a:spcAft>
              <a:defRPr sz="1300" b="1" i="0">
                <a:solidFill>
                  <a:srgbClr val="FBBF24"/>
                </a:solidFill>
                <a:latin typeface="Georgia"/>
              </a:defRPr>
            </a:pPr>
            <a:r>
              <a:t>      oₜ = σ(W_o · [h₁₋₁, xₜ] + b_o)</a:t>
            </a:r>
          </a:p>
        </p:txBody>
      </p:sp>
      <p:sp>
        <p:nvSpPr>
          <p:cNvPr id="6" name="Rounded Rectangle 5"/>
          <p:cNvSpPr/>
          <p:nvPr/>
        </p:nvSpPr>
        <p:spPr>
          <a:xfrm>
            <a:off x="6339535"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Our LSTM Network Configuration</a:t>
            </a:r>
          </a:p>
          <a:p>
            <a:pPr>
              <a:lnSpc>
                <a:spcPct val="115000"/>
              </a:lnSpc>
              <a:spcAft>
                <a:spcPts val="200"/>
              </a:spcAft>
              <a:defRPr sz="1400" b="1" i="0">
                <a:solidFill>
                  <a:srgbClr val="FFFFFF"/>
                </a:solidFill>
                <a:latin typeface="Calibri"/>
              </a:defRPr>
            </a:pPr>
            <a:r>
              <a:t>• Embedding Layer:</a:t>
            </a:r>
          </a:p>
          <a:p>
            <a:pPr>
              <a:lnSpc>
                <a:spcPct val="115000"/>
              </a:lnSpc>
              <a:spcAft>
                <a:spcPts val="1200"/>
              </a:spcAft>
              <a:defRPr sz="1300" b="0" i="0">
                <a:solidFill>
                  <a:srgbClr val="D1D5DB"/>
                </a:solidFill>
                <a:latin typeface="Calibri"/>
              </a:defRPr>
            </a:pPr>
            <a:r>
              <a:t>  - Projects character indices to 128-dimensional dense vectors.</a:t>
            </a:r>
          </a:p>
          <a:p>
            <a:pPr>
              <a:lnSpc>
                <a:spcPct val="115000"/>
              </a:lnSpc>
              <a:spcAft>
                <a:spcPts val="200"/>
              </a:spcAft>
              <a:defRPr sz="1400" b="1" i="0">
                <a:solidFill>
                  <a:srgbClr val="FFFFFF"/>
                </a:solidFill>
                <a:latin typeface="Calibri"/>
              </a:defRPr>
            </a:pPr>
            <a:r>
              <a:t>• Stacked LSTM Layers:</a:t>
            </a:r>
          </a:p>
          <a:p>
            <a:pPr>
              <a:lnSpc>
                <a:spcPct val="115000"/>
              </a:lnSpc>
              <a:spcAft>
                <a:spcPts val="1200"/>
              </a:spcAft>
              <a:defRPr sz="1300" b="0" i="0">
                <a:solidFill>
                  <a:srgbClr val="D1D5DB"/>
                </a:solidFill>
                <a:latin typeface="Calibri"/>
              </a:defRPr>
            </a:pPr>
            <a:r>
              <a:t>  - 2 layers with 256 hidden units each.</a:t>
            </a:r>
            <a:br/>
            <a:r>
              <a:t>  - Dropout rate of 0.2 after each layer to prevent overfitting.</a:t>
            </a:r>
          </a:p>
          <a:p>
            <a:pPr>
              <a:lnSpc>
                <a:spcPct val="115000"/>
              </a:lnSpc>
              <a:spcAft>
                <a:spcPts val="200"/>
              </a:spcAft>
              <a:defRPr sz="1400" b="1" i="0">
                <a:solidFill>
                  <a:srgbClr val="FFFFFF"/>
                </a:solidFill>
                <a:latin typeface="Calibri"/>
              </a:defRPr>
            </a:pPr>
            <a:r>
              <a:t>• Linear Decoder Layer:</a:t>
            </a:r>
          </a:p>
          <a:p>
            <a:pPr>
              <a:lnSpc>
                <a:spcPct val="115000"/>
              </a:lnSpc>
              <a:spcAft>
                <a:spcPts val="600"/>
              </a:spcAft>
              <a:defRPr sz="1300" b="0" i="0">
                <a:solidFill>
                  <a:srgbClr val="D1D5DB"/>
                </a:solidFill>
                <a:latin typeface="Calibri"/>
              </a:defRPr>
            </a:pPr>
            <a:r>
              <a:t>  - Projects the 256-dim hidden states to character vocabulary logits.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Data Pipeline &amp; Corpuses</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Contrasting Training Corpuses</a:t>
            </a:r>
          </a:p>
          <a:p>
            <a:pPr>
              <a:lnSpc>
                <a:spcPct val="115000"/>
              </a:lnSpc>
              <a:spcAft>
                <a:spcPts val="200"/>
              </a:spcAft>
              <a:defRPr sz="1400" b="1" i="0">
                <a:solidFill>
                  <a:srgbClr val="FFFFFF"/>
                </a:solidFill>
                <a:latin typeface="Calibri"/>
              </a:defRPr>
            </a:pPr>
            <a:r>
              <a:t>• Shakespeare Corpus (tinyshakespeare):</a:t>
            </a:r>
          </a:p>
          <a:p>
            <a:pPr>
              <a:lnSpc>
                <a:spcPct val="115000"/>
              </a:lnSpc>
              <a:spcAft>
                <a:spcPts val="1600"/>
              </a:spcAft>
              <a:defRPr sz="1300" b="0" i="0">
                <a:solidFill>
                  <a:srgbClr val="D1D5DB"/>
                </a:solidFill>
                <a:latin typeface="Calibri"/>
              </a:defRPr>
            </a:pPr>
            <a:r>
              <a:t>  - Poetic syntax, old English vocabulary, dialogue structure.</a:t>
            </a:r>
            <a:br/>
            <a:r>
              <a:t>  - Vocabulary size: 37 unique characters.</a:t>
            </a:r>
          </a:p>
          <a:p>
            <a:pPr>
              <a:lnSpc>
                <a:spcPct val="115000"/>
              </a:lnSpc>
              <a:spcAft>
                <a:spcPts val="200"/>
              </a:spcAft>
              <a:defRPr sz="1400" b="1" i="0">
                <a:solidFill>
                  <a:srgbClr val="FFFFFF"/>
                </a:solidFill>
                <a:latin typeface="Calibri"/>
              </a:defRPr>
            </a:pPr>
            <a:r>
              <a:t>• Sherlock Holmes Corpus (Conan Doyle):</a:t>
            </a:r>
          </a:p>
          <a:p>
            <a:pPr>
              <a:lnSpc>
                <a:spcPct val="115000"/>
              </a:lnSpc>
              <a:spcAft>
                <a:spcPts val="600"/>
              </a:spcAft>
              <a:defRPr sz="1300" b="0" i="0">
                <a:solidFill>
                  <a:srgbClr val="D1D5DB"/>
                </a:solidFill>
                <a:latin typeface="Calibri"/>
              </a:defRPr>
            </a:pPr>
            <a:r>
              <a:t>  - 19th-century detective prose, narrative syntax, descriptive style.</a:t>
            </a:r>
            <a:br/>
            <a:r>
              <a:t>  - Vocabulary size: 57 unique characters.</a:t>
            </a:r>
          </a:p>
        </p:txBody>
      </p:sp>
      <p:sp>
        <p:nvSpPr>
          <p:cNvPr id="6" name="Rounded Rectangle 5"/>
          <p:cNvSpPr/>
          <p:nvPr/>
        </p:nvSpPr>
        <p:spPr>
          <a:xfrm>
            <a:off x="6339535"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Data Preprocessing &amp; Preparation</a:t>
            </a:r>
          </a:p>
          <a:p>
            <a:pPr>
              <a:lnSpc>
                <a:spcPct val="115000"/>
              </a:lnSpc>
              <a:spcAft>
                <a:spcPts val="200"/>
              </a:spcAft>
              <a:defRPr sz="1400" b="1" i="0">
                <a:solidFill>
                  <a:srgbClr val="FFFFFF"/>
                </a:solidFill>
                <a:latin typeface="Calibri"/>
              </a:defRPr>
            </a:pPr>
            <a:r>
              <a:t>• Lowercase Normalization:</a:t>
            </a:r>
          </a:p>
          <a:p>
            <a:pPr>
              <a:lnSpc>
                <a:spcPct val="115000"/>
              </a:lnSpc>
              <a:spcAft>
                <a:spcPts val="1600"/>
              </a:spcAft>
              <a:defRPr sz="1300" b="0" i="0">
                <a:solidFill>
                  <a:srgbClr val="D1D5DB"/>
                </a:solidFill>
                <a:latin typeface="Calibri"/>
              </a:defRPr>
            </a:pPr>
            <a:r>
              <a:t>  - Reduced all characters to lowercase to keep the vocabulary sizes compact, leading to faster training.</a:t>
            </a:r>
          </a:p>
          <a:p>
            <a:pPr>
              <a:lnSpc>
                <a:spcPct val="115000"/>
              </a:lnSpc>
              <a:spcAft>
                <a:spcPts val="200"/>
              </a:spcAft>
              <a:defRPr sz="1400" b="1" i="0">
                <a:solidFill>
                  <a:srgbClr val="FFFFFF"/>
                </a:solidFill>
                <a:latin typeface="Calibri"/>
              </a:defRPr>
            </a:pPr>
            <a:r>
              <a:t>• Input-Target Slicing:</a:t>
            </a:r>
          </a:p>
          <a:p>
            <a:pPr>
              <a:lnSpc>
                <a:spcPct val="115000"/>
              </a:lnSpc>
              <a:spcAft>
                <a:spcPts val="600"/>
              </a:spcAft>
              <a:defRPr sz="1300" b="0" i="0">
                <a:solidFill>
                  <a:srgbClr val="D1D5DB"/>
                </a:solidFill>
                <a:latin typeface="Calibri"/>
              </a:defRPr>
            </a:pPr>
            <a:r>
              <a:t>  - Sliced raw text into overlapping sequences of length T = 100.</a:t>
            </a:r>
            <a:br/>
            <a:r>
              <a:t>  - Target sequence is shifted by one character.</a:t>
            </a:r>
            <a:br/>
            <a:r>
              <a:t>  - Model learns to predict next character at each time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Decoding and Sampling Techniques</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Greedy vs. Temperature Sampling</a:t>
            </a:r>
          </a:p>
          <a:p>
            <a:pPr>
              <a:lnSpc>
                <a:spcPct val="115000"/>
              </a:lnSpc>
              <a:spcAft>
                <a:spcPts val="200"/>
              </a:spcAft>
              <a:defRPr sz="1400" b="1" i="0">
                <a:solidFill>
                  <a:srgbClr val="FFFFFF"/>
                </a:solidFill>
                <a:latin typeface="Calibri"/>
              </a:defRPr>
            </a:pPr>
            <a:r>
              <a:t>• Greedy Decoding (T = 0):</a:t>
            </a:r>
          </a:p>
          <a:p>
            <a:pPr>
              <a:lnSpc>
                <a:spcPct val="115000"/>
              </a:lnSpc>
              <a:spcAft>
                <a:spcPts val="1200"/>
              </a:spcAft>
              <a:defRPr sz="1300" b="0" i="0">
                <a:solidFill>
                  <a:srgbClr val="D1D5DB"/>
                </a:solidFill>
                <a:latin typeface="Calibri"/>
              </a:defRPr>
            </a:pPr>
            <a:r>
              <a:t>  - Always selects the character with the maximum probability.</a:t>
            </a:r>
            <a:br/>
            <a:r>
              <a:t>  - Highly deterministic, but prone to repeating words and getting stuck in infinite loops.</a:t>
            </a:r>
          </a:p>
          <a:p>
            <a:pPr>
              <a:lnSpc>
                <a:spcPct val="115000"/>
              </a:lnSpc>
              <a:spcAft>
                <a:spcPts val="200"/>
              </a:spcAft>
              <a:defRPr sz="1400" b="1" i="0">
                <a:solidFill>
                  <a:srgbClr val="FFFFFF"/>
                </a:solidFill>
                <a:latin typeface="Calibri"/>
              </a:defRPr>
            </a:pPr>
            <a:r>
              <a:t>• Temperature Sampling (T &gt; 0):</a:t>
            </a:r>
          </a:p>
          <a:p>
            <a:pPr>
              <a:lnSpc>
                <a:spcPct val="115000"/>
              </a:lnSpc>
              <a:spcAft>
                <a:spcPts val="400"/>
              </a:spcAft>
              <a:defRPr sz="1300" b="0" i="0">
                <a:solidFill>
                  <a:srgbClr val="D1D5DB"/>
                </a:solidFill>
                <a:latin typeface="Calibri"/>
              </a:defRPr>
            </a:pPr>
            <a:r>
              <a:t>  - Scales logits before the Softmax function to adjust entropy:</a:t>
            </a:r>
          </a:p>
          <a:p>
            <a:pPr>
              <a:lnSpc>
                <a:spcPct val="115000"/>
              </a:lnSpc>
              <a:spcAft>
                <a:spcPts val="600"/>
              </a:spcAft>
              <a:defRPr sz="1600" b="1" i="0">
                <a:solidFill>
                  <a:srgbClr val="FBBF24"/>
                </a:solidFill>
                <a:latin typeface="Georgia"/>
              </a:defRPr>
            </a:pPr>
            <a:r>
              <a:t>      P(cᵢ) = exp(logits_i / T) / Σⱼ exp(logits_j / T)</a:t>
            </a:r>
          </a:p>
        </p:txBody>
      </p:sp>
      <p:sp>
        <p:nvSpPr>
          <p:cNvPr id="6" name="Rounded Rectangle 5"/>
          <p:cNvSpPr/>
          <p:nvPr/>
        </p:nvSpPr>
        <p:spPr>
          <a:xfrm>
            <a:off x="6339535"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Effects of Temperature Settings</a:t>
            </a:r>
          </a:p>
          <a:p>
            <a:pPr>
              <a:lnSpc>
                <a:spcPct val="115000"/>
              </a:lnSpc>
              <a:spcAft>
                <a:spcPts val="200"/>
              </a:spcAft>
              <a:defRPr sz="1400" b="1" i="0">
                <a:solidFill>
                  <a:srgbClr val="FFFFFF"/>
                </a:solidFill>
                <a:latin typeface="Calibri"/>
              </a:defRPr>
            </a:pPr>
            <a:r>
              <a:t>• Low Temperature (T = 0.2):</a:t>
            </a:r>
          </a:p>
          <a:p>
            <a:pPr>
              <a:lnSpc>
                <a:spcPct val="115000"/>
              </a:lnSpc>
              <a:spcAft>
                <a:spcPts val="1600"/>
              </a:spcAft>
              <a:defRPr sz="1300" b="0" i="0">
                <a:solidFill>
                  <a:srgbClr val="D1D5DB"/>
                </a:solidFill>
                <a:latin typeface="Calibri"/>
              </a:defRPr>
            </a:pPr>
            <a:r>
              <a:t>  - Very conservative output, highly repetitive, lacks creativity.</a:t>
            </a:r>
          </a:p>
          <a:p>
            <a:pPr>
              <a:lnSpc>
                <a:spcPct val="115000"/>
              </a:lnSpc>
              <a:spcAft>
                <a:spcPts val="200"/>
              </a:spcAft>
              <a:defRPr sz="1400" b="1" i="0">
                <a:solidFill>
                  <a:srgbClr val="FFFFFF"/>
                </a:solidFill>
                <a:latin typeface="Calibri"/>
              </a:defRPr>
            </a:pPr>
            <a:r>
              <a:t>• Moderate Temperature (T = 0.6):</a:t>
            </a:r>
          </a:p>
          <a:p>
            <a:pPr>
              <a:lnSpc>
                <a:spcPct val="115000"/>
              </a:lnSpc>
              <a:spcAft>
                <a:spcPts val="1600"/>
              </a:spcAft>
              <a:defRPr sz="1300" b="0" i="0">
                <a:solidFill>
                  <a:srgbClr val="D1D5DB"/>
                </a:solidFill>
                <a:latin typeface="Calibri"/>
              </a:defRPr>
            </a:pPr>
            <a:r>
              <a:t>  - Optimal balance: creative vocabulary, fluent syntax, and very few spelling/grammar mistakes.</a:t>
            </a:r>
          </a:p>
          <a:p>
            <a:pPr>
              <a:lnSpc>
                <a:spcPct val="115000"/>
              </a:lnSpc>
              <a:spcAft>
                <a:spcPts val="200"/>
              </a:spcAft>
              <a:defRPr sz="1400" b="1" i="0">
                <a:solidFill>
                  <a:srgbClr val="FFFFFF"/>
                </a:solidFill>
                <a:latin typeface="Calibri"/>
              </a:defRPr>
            </a:pPr>
            <a:r>
              <a:t>• High Temperature (T &gt;= 1.0):</a:t>
            </a:r>
          </a:p>
          <a:p>
            <a:pPr>
              <a:lnSpc>
                <a:spcPct val="115000"/>
              </a:lnSpc>
              <a:spcAft>
                <a:spcPts val="600"/>
              </a:spcAft>
              <a:defRPr sz="1300" b="0" i="0">
                <a:solidFill>
                  <a:srgbClr val="D1D5DB"/>
                </a:solidFill>
                <a:latin typeface="Calibri"/>
              </a:defRPr>
            </a:pPr>
            <a:r>
              <a:t>  - Extreme entropy: highly chaotic, frequent spelling mistakes, outputs look like random gibberish.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Task 1: Training Loss &amp; Text Samples</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475488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297680" cy="4114800"/>
          </a:xfrm>
          <a:prstGeom prst="rect">
            <a:avLst/>
          </a:prstGeom>
          <a:noFill/>
        </p:spPr>
        <p:txBody>
          <a:bodyPr wrap="square">
            <a:spAutoFit/>
          </a:bodyPr>
          <a:lstStyle/>
          <a:p>
            <a:pPr>
              <a:lnSpc>
                <a:spcPct val="115000"/>
              </a:lnSpc>
              <a:spcAft>
                <a:spcPts val="800"/>
              </a:spcAft>
              <a:defRPr sz="1800" b="1" i="0">
                <a:solidFill>
                  <a:srgbClr val="FBBF24"/>
                </a:solidFill>
                <a:latin typeface="Georgia"/>
              </a:defRPr>
            </a:pPr>
            <a:r>
              <a:t>Empirical Findings &amp; Text Samples</a:t>
            </a:r>
          </a:p>
          <a:p>
            <a:pPr>
              <a:lnSpc>
                <a:spcPct val="115000"/>
              </a:lnSpc>
              <a:spcAft>
                <a:spcPts val="200"/>
              </a:spcAft>
              <a:defRPr sz="1300" b="1" i="0">
                <a:solidFill>
                  <a:srgbClr val="FFFFFF"/>
                </a:solidFill>
                <a:latin typeface="Calibri"/>
              </a:defRPr>
            </a:pPr>
            <a:r>
              <a:t>• Loss Convergence:</a:t>
            </a:r>
          </a:p>
          <a:p>
            <a:pPr>
              <a:lnSpc>
                <a:spcPct val="115000"/>
              </a:lnSpc>
              <a:spcAft>
                <a:spcPts val="800"/>
              </a:spcAft>
              <a:defRPr sz="1200" b="0" i="0">
                <a:solidFill>
                  <a:srgbClr val="D1D5DB"/>
                </a:solidFill>
                <a:latin typeface="Calibri"/>
              </a:defRPr>
            </a:pPr>
            <a:r>
              <a:t>  - Shakespeare Model: final loss of 0.9955 (8 epochs).</a:t>
            </a:r>
            <a:br/>
            <a:r>
              <a:t>  - Sherlock Model: final loss of 1.1377.</a:t>
            </a:r>
          </a:p>
          <a:p>
            <a:pPr>
              <a:lnSpc>
                <a:spcPct val="115000"/>
              </a:lnSpc>
              <a:spcAft>
                <a:spcPts val="200"/>
              </a:spcAft>
              <a:defRPr sz="1300" b="1" i="0">
                <a:solidFill>
                  <a:srgbClr val="FFFFFF"/>
                </a:solidFill>
                <a:latin typeface="Calibri"/>
              </a:defRPr>
            </a:pPr>
            <a:r>
              <a:t>• Stylistic Comparison (Prompt: "the secret of ")</a:t>
            </a:r>
          </a:p>
          <a:p>
            <a:pPr>
              <a:lnSpc>
                <a:spcPct val="115000"/>
              </a:lnSpc>
              <a:spcAft>
                <a:spcPts val="200"/>
              </a:spcAft>
              <a:defRPr sz="1200" b="1" i="0">
                <a:solidFill>
                  <a:srgbClr val="FBBF24"/>
                </a:solidFill>
                <a:latin typeface="Calibri"/>
              </a:defRPr>
            </a:pPr>
            <a:r>
              <a:t>  - Shakespeare (T=0.6):</a:t>
            </a:r>
          </a:p>
          <a:p>
            <a:pPr>
              <a:lnSpc>
                <a:spcPct val="115000"/>
              </a:lnSpc>
              <a:spcAft>
                <a:spcPts val="600"/>
              </a:spcAft>
              <a:defRPr sz="1100" b="0" i="1">
                <a:solidFill>
                  <a:srgbClr val="D1D5DB"/>
                </a:solidFill>
                <a:latin typeface="Calibri"/>
              </a:defRPr>
            </a:pPr>
            <a:r>
              <a:t>    "the secret of this too, well of parish that's worth's voice..."</a:t>
            </a:r>
          </a:p>
          <a:p>
            <a:pPr>
              <a:lnSpc>
                <a:spcPct val="115000"/>
              </a:lnSpc>
              <a:spcAft>
                <a:spcPts val="200"/>
              </a:spcAft>
              <a:defRPr sz="1200" b="1" i="0">
                <a:solidFill>
                  <a:srgbClr val="FBBF24"/>
                </a:solidFill>
                <a:latin typeface="Calibri"/>
              </a:defRPr>
            </a:pPr>
            <a:r>
              <a:t>  - Sherlock Holmes (T=0.6):</a:t>
            </a:r>
          </a:p>
          <a:p>
            <a:pPr>
              <a:lnSpc>
                <a:spcPct val="115000"/>
              </a:lnSpc>
              <a:spcAft>
                <a:spcPts val="600"/>
              </a:spcAft>
              <a:defRPr sz="1100" b="0" i="1">
                <a:solidFill>
                  <a:srgbClr val="D1D5DB"/>
                </a:solidFill>
                <a:latin typeface="Calibri"/>
              </a:defRPr>
            </a:pPr>
            <a:r>
              <a:t>    "the secret of home upon his waiting. he woild dost the band..."</a:t>
            </a:r>
          </a:p>
        </p:txBody>
      </p:sp>
      <p:sp>
        <p:nvSpPr>
          <p:cNvPr id="6" name="Rounded Rectangle 5"/>
          <p:cNvSpPr/>
          <p:nvPr/>
        </p:nvSpPr>
        <p:spPr>
          <a:xfrm>
            <a:off x="5852160" y="1463040"/>
            <a:ext cx="5608015"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sk1_lstm_loss.png"/>
          <p:cNvPicPr>
            <a:picLocks noChangeAspect="1"/>
          </p:cNvPicPr>
          <p:nvPr/>
        </p:nvPicPr>
        <p:blipFill>
          <a:blip r:embed="rId2"/>
          <a:stretch>
            <a:fillRect/>
          </a:stretch>
        </p:blipFill>
        <p:spPr>
          <a:xfrm>
            <a:off x="6035040" y="1645920"/>
            <a:ext cx="5242255" cy="42062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Task 2: Batch Norm vs. No Batch Norm</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Project Objective</a:t>
            </a:r>
          </a:p>
          <a:p>
            <a:pPr>
              <a:lnSpc>
                <a:spcPct val="115000"/>
              </a:lnSpc>
              <a:spcAft>
                <a:spcPts val="1200"/>
              </a:spcAft>
              <a:defRPr sz="1400" b="0" i="0">
                <a:solidFill>
                  <a:srgbClr val="D1D5DB"/>
                </a:solidFill>
                <a:latin typeface="Calibri"/>
              </a:defRPr>
            </a:pPr>
            <a:r>
              <a:t>• Train and compare deep feedforward neural networks (6 layers) with and without Batch Normalization on the MNIST dataset.</a:t>
            </a:r>
          </a:p>
          <a:p>
            <a:pPr>
              <a:lnSpc>
                <a:spcPct val="115000"/>
              </a:lnSpc>
              <a:spcAft>
                <a:spcPts val="1200"/>
              </a:spcAft>
              <a:defRPr sz="1400" b="0" i="0">
                <a:solidFill>
                  <a:srgbClr val="D1D5DB"/>
                </a:solidFill>
                <a:latin typeface="Calibri"/>
              </a:defRPr>
            </a:pPr>
            <a:r>
              <a:t>• Systematically evaluate convergence speed, final test accuracy, and stability under different optimization stress-tests.</a:t>
            </a:r>
          </a:p>
          <a:p>
            <a:pPr>
              <a:lnSpc>
                <a:spcPct val="115000"/>
              </a:lnSpc>
              <a:spcAft>
                <a:spcPts val="600"/>
              </a:spcAft>
              <a:defRPr sz="1400" b="0" i="0">
                <a:solidFill>
                  <a:srgbClr val="D1D5DB"/>
                </a:solidFill>
                <a:latin typeface="Calibri"/>
              </a:defRPr>
            </a:pPr>
            <a:r>
              <a:t>• Provide empirical evidence demonstrating how normalization rescues deep models from training failure.</a:t>
            </a:r>
          </a:p>
        </p:txBody>
      </p:sp>
      <p:sp>
        <p:nvSpPr>
          <p:cNvPr id="6" name="Rounded Rectangle 5"/>
          <p:cNvSpPr/>
          <p:nvPr/>
        </p:nvSpPr>
        <p:spPr>
          <a:xfrm>
            <a:off x="6339535"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Key Challenges in Deep Networks</a:t>
            </a:r>
          </a:p>
          <a:p>
            <a:pPr>
              <a:lnSpc>
                <a:spcPct val="115000"/>
              </a:lnSpc>
              <a:spcAft>
                <a:spcPts val="200"/>
              </a:spcAft>
              <a:defRPr sz="1400" b="1" i="0">
                <a:solidFill>
                  <a:srgbClr val="FFFFFF"/>
                </a:solidFill>
                <a:latin typeface="Calibri"/>
              </a:defRPr>
            </a:pPr>
            <a:r>
              <a:t>• Internal Covariate Shift:</a:t>
            </a:r>
          </a:p>
          <a:p>
            <a:pPr>
              <a:lnSpc>
                <a:spcPct val="115000"/>
              </a:lnSpc>
              <a:spcAft>
                <a:spcPts val="1600"/>
              </a:spcAft>
              <a:defRPr sz="1300" b="0" i="0">
                <a:solidFill>
                  <a:srgbClr val="D1D5DB"/>
                </a:solidFill>
                <a:latin typeface="Calibri"/>
              </a:defRPr>
            </a:pPr>
            <a:r>
              <a:t>  - Distributions of layer activations shift continuously as weights update during training, forcing later layers to constantly adapt.</a:t>
            </a:r>
          </a:p>
          <a:p>
            <a:pPr>
              <a:lnSpc>
                <a:spcPct val="115000"/>
              </a:lnSpc>
              <a:spcAft>
                <a:spcPts val="200"/>
              </a:spcAft>
              <a:defRPr sz="1400" b="1" i="0">
                <a:solidFill>
                  <a:srgbClr val="FFFFFF"/>
                </a:solidFill>
                <a:latin typeface="Calibri"/>
              </a:defRPr>
            </a:pPr>
            <a:r>
              <a:t>• Vanishing &amp; Exploding Gradients:</a:t>
            </a:r>
          </a:p>
          <a:p>
            <a:pPr>
              <a:lnSpc>
                <a:spcPct val="115000"/>
              </a:lnSpc>
              <a:spcAft>
                <a:spcPts val="600"/>
              </a:spcAft>
              <a:defRPr sz="1300" b="0" i="0">
                <a:solidFill>
                  <a:srgbClr val="D1D5DB"/>
                </a:solidFill>
                <a:latin typeface="Calibri"/>
              </a:defRPr>
            </a:pPr>
            <a:r>
              <a:t>  - Error signals shrink to near-zero or expand exponentially as they propagate backward through many layers, halting learning.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Deep MLP Architecture and Setup</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Dataset &amp; Model Configuration</a:t>
            </a:r>
          </a:p>
          <a:p>
            <a:pPr>
              <a:lnSpc>
                <a:spcPct val="115000"/>
              </a:lnSpc>
              <a:spcAft>
                <a:spcPts val="200"/>
              </a:spcAft>
              <a:defRPr sz="1400" b="1" i="0">
                <a:solidFill>
                  <a:srgbClr val="FFFFFF"/>
                </a:solidFill>
                <a:latin typeface="Calibri"/>
              </a:defRPr>
            </a:pPr>
            <a:r>
              <a:t>• Dataset: MNIST Handwritten Digits</a:t>
            </a:r>
          </a:p>
          <a:p>
            <a:pPr>
              <a:lnSpc>
                <a:spcPct val="115000"/>
              </a:lnSpc>
              <a:spcAft>
                <a:spcPts val="1200"/>
              </a:spcAft>
              <a:defRPr sz="1300" b="0" i="0">
                <a:solidFill>
                  <a:srgbClr val="D1D5DB"/>
                </a:solidFill>
                <a:latin typeface="Calibri"/>
              </a:defRPr>
            </a:pPr>
            <a:r>
              <a:t>  - 60,000 training images, 10,000 test images (28x28 grayscale digits).</a:t>
            </a:r>
          </a:p>
          <a:p>
            <a:pPr>
              <a:lnSpc>
                <a:spcPct val="115000"/>
              </a:lnSpc>
              <a:spcAft>
                <a:spcPts val="200"/>
              </a:spcAft>
              <a:defRPr sz="1400" b="1" i="0">
                <a:solidFill>
                  <a:srgbClr val="FFFFFF"/>
                </a:solidFill>
                <a:latin typeface="Calibri"/>
              </a:defRPr>
            </a:pPr>
            <a:r>
              <a:t>• Network Dimensions:</a:t>
            </a:r>
          </a:p>
          <a:p>
            <a:pPr>
              <a:lnSpc>
                <a:spcPct val="115000"/>
              </a:lnSpc>
              <a:spcAft>
                <a:spcPts val="400"/>
              </a:spcAft>
              <a:defRPr sz="1300" b="0" i="0">
                <a:solidFill>
                  <a:srgbClr val="D1D5DB"/>
                </a:solidFill>
                <a:latin typeface="Calibri"/>
              </a:defRPr>
            </a:pPr>
            <a:r>
              <a:t>  - Input Layer: Flattened image vector of size 784.</a:t>
            </a:r>
          </a:p>
          <a:p>
            <a:pPr>
              <a:lnSpc>
                <a:spcPct val="115000"/>
              </a:lnSpc>
              <a:spcAft>
                <a:spcPts val="400"/>
              </a:spcAft>
              <a:defRPr sz="1300" b="0" i="0">
                <a:solidFill>
                  <a:srgbClr val="D1D5DB"/>
                </a:solidFill>
                <a:latin typeface="Calibri"/>
              </a:defRPr>
            </a:pPr>
            <a:r>
              <a:t>  - Hidden Layers: 5 layers with 512 hidden units each.</a:t>
            </a:r>
          </a:p>
          <a:p>
            <a:pPr>
              <a:lnSpc>
                <a:spcPct val="115000"/>
              </a:lnSpc>
              <a:spcAft>
                <a:spcPts val="400"/>
              </a:spcAft>
              <a:defRPr sz="1300" b="0" i="0">
                <a:solidFill>
                  <a:srgbClr val="D1D5DB"/>
                </a:solidFill>
                <a:latin typeface="Calibri"/>
              </a:defRPr>
            </a:pPr>
            <a:r>
              <a:t>  - Output Layer: 10 units with Softmax for digit class logits.</a:t>
            </a:r>
          </a:p>
          <a:p>
            <a:pPr>
              <a:lnSpc>
                <a:spcPct val="115000"/>
              </a:lnSpc>
              <a:spcAft>
                <a:spcPts val="600"/>
              </a:spcAft>
              <a:defRPr sz="1300" b="0" i="0">
                <a:solidFill>
                  <a:srgbClr val="D1D5DB"/>
                </a:solidFill>
                <a:latin typeface="Calibri"/>
              </a:defRPr>
            </a:pPr>
            <a:r>
              <a:t>  - Activation Function: Rectified Linear Unit (ReLU) after each layer.</a:t>
            </a:r>
          </a:p>
        </p:txBody>
      </p:sp>
      <p:sp>
        <p:nvSpPr>
          <p:cNvPr id="6" name="Rounded Rectangle 5"/>
          <p:cNvSpPr/>
          <p:nvPr/>
        </p:nvSpPr>
        <p:spPr>
          <a:xfrm>
            <a:off x="6339535"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Comparative Experimental Setups</a:t>
            </a:r>
          </a:p>
          <a:p>
            <a:pPr>
              <a:lnSpc>
                <a:spcPct val="115000"/>
              </a:lnSpc>
              <a:spcAft>
                <a:spcPts val="200"/>
              </a:spcAft>
              <a:defRPr sz="1400" b="1" i="0">
                <a:solidFill>
                  <a:srgbClr val="FFFFFF"/>
                </a:solidFill>
                <a:latin typeface="Calibri"/>
              </a:defRPr>
            </a:pPr>
            <a:r>
              <a:t>• Setup A: Baseline Network (No BN)</a:t>
            </a:r>
          </a:p>
          <a:p>
            <a:pPr>
              <a:lnSpc>
                <a:spcPct val="115000"/>
              </a:lnSpc>
              <a:spcAft>
                <a:spcPts val="1600"/>
              </a:spcAft>
              <a:defRPr sz="1300" b="0" i="0">
                <a:solidFill>
                  <a:srgbClr val="D1D5DB"/>
                </a:solidFill>
                <a:latin typeface="Calibri"/>
              </a:defRPr>
            </a:pPr>
            <a:r>
              <a:t>  - Fully Connected (Linear) -&gt; ReLU Activation.</a:t>
            </a:r>
          </a:p>
          <a:p>
            <a:pPr>
              <a:lnSpc>
                <a:spcPct val="115000"/>
              </a:lnSpc>
              <a:spcAft>
                <a:spcPts val="200"/>
              </a:spcAft>
              <a:defRPr sz="1400" b="1" i="0">
                <a:solidFill>
                  <a:srgbClr val="FFFFFF"/>
                </a:solidFill>
                <a:latin typeface="Calibri"/>
              </a:defRPr>
            </a:pPr>
            <a:r>
              <a:t>• Setup B: Normalized Network (With BN)</a:t>
            </a:r>
          </a:p>
          <a:p>
            <a:pPr>
              <a:lnSpc>
                <a:spcPct val="115000"/>
              </a:lnSpc>
              <a:spcAft>
                <a:spcPts val="1600"/>
              </a:spcAft>
              <a:defRPr sz="1300" b="0" i="0">
                <a:solidFill>
                  <a:srgbClr val="D1D5DB"/>
                </a:solidFill>
                <a:latin typeface="Calibri"/>
              </a:defRPr>
            </a:pPr>
            <a:r>
              <a:t>  - Fully Connected -&gt; BatchNorm1d -&gt; ReLU Activation.</a:t>
            </a:r>
          </a:p>
          <a:p>
            <a:pPr>
              <a:lnSpc>
                <a:spcPct val="115000"/>
              </a:lnSpc>
              <a:spcAft>
                <a:spcPts val="200"/>
              </a:spcAft>
              <a:defRPr sz="1400" b="1" i="0">
                <a:solidFill>
                  <a:srgbClr val="FFFFFF"/>
                </a:solidFill>
                <a:latin typeface="Calibri"/>
              </a:defRPr>
            </a:pPr>
            <a:r>
              <a:t>• Optimization settings:</a:t>
            </a:r>
          </a:p>
          <a:p>
            <a:pPr>
              <a:lnSpc>
                <a:spcPct val="115000"/>
              </a:lnSpc>
              <a:spcAft>
                <a:spcPts val="600"/>
              </a:spcAft>
              <a:defRPr sz="1300" b="0" i="0">
                <a:solidFill>
                  <a:srgbClr val="D1D5DB"/>
                </a:solidFill>
                <a:latin typeface="Calibri"/>
              </a:defRPr>
            </a:pPr>
            <a:r>
              <a:t>  - Trained both setups using standard Mini-batch Stochastic Gradient Descent (SGD) with batch size of 64.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Experiment 1: Standard Training</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475488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29768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Standard SGD Training</a:t>
            </a:r>
          </a:p>
          <a:p>
            <a:pPr>
              <a:lnSpc>
                <a:spcPct val="115000"/>
              </a:lnSpc>
              <a:spcAft>
                <a:spcPts val="200"/>
              </a:spcAft>
              <a:defRPr sz="1400" b="1" i="0">
                <a:solidFill>
                  <a:srgbClr val="FFFFFF"/>
                </a:solidFill>
                <a:latin typeface="Calibri"/>
              </a:defRPr>
            </a:pPr>
            <a:r>
              <a:t>• Hyperparameters:</a:t>
            </a:r>
          </a:p>
          <a:p>
            <a:pPr>
              <a:lnSpc>
                <a:spcPct val="115000"/>
              </a:lnSpc>
              <a:spcAft>
                <a:spcPts val="1200"/>
              </a:spcAft>
              <a:defRPr sz="1300" b="0" i="0">
                <a:solidFill>
                  <a:srgbClr val="D1D5DB"/>
                </a:solidFill>
                <a:latin typeface="Calibri"/>
              </a:defRPr>
            </a:pPr>
            <a:r>
              <a:t>  - Learning rate = 0.01, standard initialization, trained for 5 epochs.</a:t>
            </a:r>
          </a:p>
          <a:p>
            <a:pPr>
              <a:lnSpc>
                <a:spcPct val="115000"/>
              </a:lnSpc>
              <a:spcAft>
                <a:spcPts val="200"/>
              </a:spcAft>
              <a:defRPr sz="1400" b="1" i="0">
                <a:solidFill>
                  <a:srgbClr val="FFFFFF"/>
                </a:solidFill>
                <a:latin typeface="Calibri"/>
              </a:defRPr>
            </a:pPr>
            <a:r>
              <a:t>• Observations:</a:t>
            </a:r>
          </a:p>
          <a:p>
            <a:pPr>
              <a:lnSpc>
                <a:spcPct val="115000"/>
              </a:lnSpc>
              <a:spcAft>
                <a:spcPts val="400"/>
              </a:spcAft>
              <a:defRPr sz="1300" b="0" i="0">
                <a:solidFill>
                  <a:srgbClr val="D1D5DB"/>
                </a:solidFill>
                <a:latin typeface="Calibri"/>
              </a:defRPr>
            </a:pPr>
            <a:r>
              <a:t>  - With Batch Norm: Converges much faster, reaching 97.10% test accuracy.</a:t>
            </a:r>
          </a:p>
          <a:p>
            <a:pPr>
              <a:lnSpc>
                <a:spcPct val="115000"/>
              </a:lnSpc>
              <a:spcAft>
                <a:spcPts val="1200"/>
              </a:spcAft>
              <a:defRPr sz="1300" b="0" i="0">
                <a:solidFill>
                  <a:srgbClr val="D1D5DB"/>
                </a:solidFill>
                <a:latin typeface="Calibri"/>
              </a:defRPr>
            </a:pPr>
            <a:r>
              <a:t>  - No Batch Norm: Converges slowly, reaching 92.83% test accuracy.</a:t>
            </a:r>
          </a:p>
          <a:p>
            <a:pPr>
              <a:lnSpc>
                <a:spcPct val="115000"/>
              </a:lnSpc>
              <a:spcAft>
                <a:spcPts val="200"/>
              </a:spcAft>
              <a:defRPr sz="1400" b="1" i="0">
                <a:solidFill>
                  <a:srgbClr val="FFFFFF"/>
                </a:solidFill>
                <a:latin typeface="Calibri"/>
              </a:defRPr>
            </a:pPr>
            <a:r>
              <a:t>• Key Takeaway:</a:t>
            </a:r>
          </a:p>
          <a:p>
            <a:pPr>
              <a:lnSpc>
                <a:spcPct val="115000"/>
              </a:lnSpc>
              <a:spcAft>
                <a:spcPts val="600"/>
              </a:spcAft>
              <a:defRPr sz="1300" b="0" i="0">
                <a:solidFill>
                  <a:srgbClr val="D1D5DB"/>
                </a:solidFill>
                <a:latin typeface="Calibri"/>
              </a:defRPr>
            </a:pPr>
            <a:r>
              <a:t>  - Batch Norm acts as an optimization accelerator, helping the model reach higher accuracy in fewer epochs.</a:t>
            </a:r>
          </a:p>
        </p:txBody>
      </p:sp>
      <p:sp>
        <p:nvSpPr>
          <p:cNvPr id="6" name="Rounded Rectangle 5"/>
          <p:cNvSpPr/>
          <p:nvPr/>
        </p:nvSpPr>
        <p:spPr>
          <a:xfrm>
            <a:off x="5852160" y="1463040"/>
            <a:ext cx="5608015"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sk2_exp1_standard.png"/>
          <p:cNvPicPr>
            <a:picLocks noChangeAspect="1"/>
          </p:cNvPicPr>
          <p:nvPr/>
        </p:nvPicPr>
        <p:blipFill>
          <a:blip r:embed="rId2"/>
          <a:stretch>
            <a:fillRect/>
          </a:stretch>
        </p:blipFill>
        <p:spPr>
          <a:xfrm>
            <a:off x="6035040" y="1645920"/>
            <a:ext cx="5242255" cy="42062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Experiment 2: High Learning Rate Stress Test</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475488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29768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High Learning Rate Stress Test</a:t>
            </a:r>
          </a:p>
          <a:p>
            <a:pPr>
              <a:lnSpc>
                <a:spcPct val="115000"/>
              </a:lnSpc>
              <a:spcAft>
                <a:spcPts val="200"/>
              </a:spcAft>
              <a:defRPr sz="1400" b="1" i="0">
                <a:solidFill>
                  <a:srgbClr val="FFFFFF"/>
                </a:solidFill>
                <a:latin typeface="Calibri"/>
              </a:defRPr>
            </a:pPr>
            <a:r>
              <a:t>• Hyperparameters:</a:t>
            </a:r>
          </a:p>
          <a:p>
            <a:pPr>
              <a:lnSpc>
                <a:spcPct val="115000"/>
              </a:lnSpc>
              <a:spcAft>
                <a:spcPts val="1200"/>
              </a:spcAft>
              <a:defRPr sz="1300" b="0" i="0">
                <a:solidFill>
                  <a:srgbClr val="D1D5DB"/>
                </a:solidFill>
                <a:latin typeface="Calibri"/>
              </a:defRPr>
            </a:pPr>
            <a:r>
              <a:t>  - Learning rate = 0.2, standard initialization, trained for 5 epochs.</a:t>
            </a:r>
          </a:p>
          <a:p>
            <a:pPr>
              <a:lnSpc>
                <a:spcPct val="115000"/>
              </a:lnSpc>
              <a:spcAft>
                <a:spcPts val="200"/>
              </a:spcAft>
              <a:defRPr sz="1400" b="1" i="0">
                <a:solidFill>
                  <a:srgbClr val="FFFFFF"/>
                </a:solidFill>
                <a:latin typeface="Calibri"/>
              </a:defRPr>
            </a:pPr>
            <a:r>
              <a:t>• Observations:</a:t>
            </a:r>
          </a:p>
          <a:p>
            <a:pPr>
              <a:lnSpc>
                <a:spcPct val="115000"/>
              </a:lnSpc>
              <a:spcAft>
                <a:spcPts val="400"/>
              </a:spcAft>
              <a:defRPr sz="1300" b="0" i="0">
                <a:solidFill>
                  <a:srgbClr val="D1D5DB"/>
                </a:solidFill>
                <a:latin typeface="Calibri"/>
              </a:defRPr>
            </a:pPr>
            <a:r>
              <a:t>  - With Batch Norm: Trains stably and converges to 98.24% test accuracy (highest accuracy achieved).</a:t>
            </a:r>
          </a:p>
          <a:p>
            <a:pPr>
              <a:lnSpc>
                <a:spcPct val="115000"/>
              </a:lnSpc>
              <a:spcAft>
                <a:spcPts val="1200"/>
              </a:spcAft>
              <a:defRPr sz="1300" b="0" i="0">
                <a:solidFill>
                  <a:srgbClr val="D1D5DB"/>
                </a:solidFill>
                <a:latin typeface="Calibri"/>
              </a:defRPr>
            </a:pPr>
            <a:r>
              <a:t>  - No Batch Norm: Fails completely to learn. Loss flatlines at 2.3026, test accuracy stays at 11.35% (random guessing).</a:t>
            </a:r>
          </a:p>
          <a:p>
            <a:pPr>
              <a:lnSpc>
                <a:spcPct val="115000"/>
              </a:lnSpc>
              <a:spcAft>
                <a:spcPts val="200"/>
              </a:spcAft>
              <a:defRPr sz="1400" b="1" i="0">
                <a:solidFill>
                  <a:srgbClr val="FFFFFF"/>
                </a:solidFill>
                <a:latin typeface="Calibri"/>
              </a:defRPr>
            </a:pPr>
            <a:r>
              <a:t>• Key Takeaway:</a:t>
            </a:r>
          </a:p>
          <a:p>
            <a:pPr>
              <a:lnSpc>
                <a:spcPct val="115000"/>
              </a:lnSpc>
              <a:spcAft>
                <a:spcPts val="600"/>
              </a:spcAft>
              <a:defRPr sz="1300" b="0" i="0">
                <a:solidFill>
                  <a:srgbClr val="D1D5DB"/>
                </a:solidFill>
                <a:latin typeface="Calibri"/>
              </a:defRPr>
            </a:pPr>
            <a:r>
              <a:t>  - Batch Norm scale-invariance stabilizes gradient updates, permitting higher learning rates that accelerate training.</a:t>
            </a:r>
          </a:p>
        </p:txBody>
      </p:sp>
      <p:sp>
        <p:nvSpPr>
          <p:cNvPr id="6" name="Rounded Rectangle 5"/>
          <p:cNvSpPr/>
          <p:nvPr/>
        </p:nvSpPr>
        <p:spPr>
          <a:xfrm>
            <a:off x="5852160" y="1463040"/>
            <a:ext cx="5608015"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sk2_exp2_high_lr.png"/>
          <p:cNvPicPr>
            <a:picLocks noChangeAspect="1"/>
          </p:cNvPicPr>
          <p:nvPr/>
        </p:nvPicPr>
        <p:blipFill>
          <a:blip r:embed="rId2"/>
          <a:stretch>
            <a:fillRect/>
          </a:stretch>
        </p:blipFill>
        <p:spPr>
          <a:xfrm>
            <a:off x="6035040" y="1645920"/>
            <a:ext cx="5242255" cy="42062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Experiment 3: Poor Initialization Stress Test</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475488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29768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Suboptimal Initialization scale</a:t>
            </a:r>
          </a:p>
          <a:p>
            <a:pPr>
              <a:lnSpc>
                <a:spcPct val="115000"/>
              </a:lnSpc>
              <a:spcAft>
                <a:spcPts val="200"/>
              </a:spcAft>
              <a:defRPr sz="1400" b="1" i="0">
                <a:solidFill>
                  <a:srgbClr val="FFFFFF"/>
                </a:solidFill>
                <a:latin typeface="Calibri"/>
              </a:defRPr>
            </a:pPr>
            <a:r>
              <a:t>• Hyperparameters:</a:t>
            </a:r>
          </a:p>
          <a:p>
            <a:pPr>
              <a:lnSpc>
                <a:spcPct val="115000"/>
              </a:lnSpc>
              <a:spcAft>
                <a:spcPts val="1200"/>
              </a:spcAft>
              <a:defRPr sz="1300" b="0" i="0">
                <a:solidFill>
                  <a:srgbClr val="D1D5DB"/>
                </a:solidFill>
                <a:latin typeface="Calibri"/>
              </a:defRPr>
            </a:pPr>
            <a:r>
              <a:t>  - Learning rate = 0.01, weights initialized scaled to near-zero (stddev = 0.001), 5 epochs.</a:t>
            </a:r>
          </a:p>
          <a:p>
            <a:pPr>
              <a:lnSpc>
                <a:spcPct val="115000"/>
              </a:lnSpc>
              <a:spcAft>
                <a:spcPts val="200"/>
              </a:spcAft>
              <a:defRPr sz="1400" b="1" i="0">
                <a:solidFill>
                  <a:srgbClr val="FFFFFF"/>
                </a:solidFill>
                <a:latin typeface="Calibri"/>
              </a:defRPr>
            </a:pPr>
            <a:r>
              <a:t>• Observations:</a:t>
            </a:r>
          </a:p>
          <a:p>
            <a:pPr>
              <a:lnSpc>
                <a:spcPct val="115000"/>
              </a:lnSpc>
              <a:spcAft>
                <a:spcPts val="400"/>
              </a:spcAft>
              <a:defRPr sz="1300" b="0" i="0">
                <a:solidFill>
                  <a:srgbClr val="D1D5DB"/>
                </a:solidFill>
                <a:latin typeface="Calibri"/>
              </a:defRPr>
            </a:pPr>
            <a:r>
              <a:t>  - With Batch Norm: Successfully rescues training, converging to 97.48% test accuracy.</a:t>
            </a:r>
          </a:p>
          <a:p>
            <a:pPr>
              <a:lnSpc>
                <a:spcPct val="115000"/>
              </a:lnSpc>
              <a:spcAft>
                <a:spcPts val="1200"/>
              </a:spcAft>
              <a:defRPr sz="1300" b="0" i="0">
                <a:solidFill>
                  <a:srgbClr val="D1D5DB"/>
                </a:solidFill>
                <a:latin typeface="Calibri"/>
              </a:defRPr>
            </a:pPr>
            <a:r>
              <a:t>  - No Batch Norm: Fails completely. Loss remains stuck at 2.3026, test accuracy stuck at 11.35% (vanishing gradients).</a:t>
            </a:r>
          </a:p>
          <a:p>
            <a:pPr>
              <a:lnSpc>
                <a:spcPct val="115000"/>
              </a:lnSpc>
              <a:spcAft>
                <a:spcPts val="200"/>
              </a:spcAft>
              <a:defRPr sz="1400" b="1" i="0">
                <a:solidFill>
                  <a:srgbClr val="FFFFFF"/>
                </a:solidFill>
                <a:latin typeface="Calibri"/>
              </a:defRPr>
            </a:pPr>
            <a:r>
              <a:t>• Key Takeaway:</a:t>
            </a:r>
          </a:p>
          <a:p>
            <a:pPr>
              <a:lnSpc>
                <a:spcPct val="115000"/>
              </a:lnSpc>
              <a:spcAft>
                <a:spcPts val="600"/>
              </a:spcAft>
              <a:defRPr sz="1300" b="0" i="0">
                <a:solidFill>
                  <a:srgbClr val="D1D5DB"/>
                </a:solidFill>
                <a:latin typeface="Calibri"/>
              </a:defRPr>
            </a:pPr>
            <a:r>
              <a:t>  - Batch Norm rescales the activations at each layer, maintaining gradient magnitude and preventing vanishing gradients.</a:t>
            </a:r>
          </a:p>
        </p:txBody>
      </p:sp>
      <p:sp>
        <p:nvSpPr>
          <p:cNvPr id="6" name="Rounded Rectangle 5"/>
          <p:cNvSpPr/>
          <p:nvPr/>
        </p:nvSpPr>
        <p:spPr>
          <a:xfrm>
            <a:off x="5852160" y="1463040"/>
            <a:ext cx="5608015"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sk2_exp3_poor_init.png"/>
          <p:cNvPicPr>
            <a:picLocks noChangeAspect="1"/>
          </p:cNvPicPr>
          <p:nvPr/>
        </p:nvPicPr>
        <p:blipFill>
          <a:blip r:embed="rId2"/>
          <a:stretch>
            <a:fillRect/>
          </a:stretch>
        </p:blipFill>
        <p:spPr>
          <a:xfrm>
            <a:off x="6035040" y="1645920"/>
            <a:ext cx="5242255" cy="4206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How Batch Normalization Stabilizes Gradients</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1000"/>
              </a:spcAft>
              <a:defRPr sz="1800" b="1" i="0">
                <a:solidFill>
                  <a:srgbClr val="FBBF24"/>
                </a:solidFill>
                <a:latin typeface="Georgia"/>
              </a:defRPr>
            </a:pPr>
            <a:r>
              <a:t>Feedforward Normalization Equations</a:t>
            </a:r>
          </a:p>
          <a:p>
            <a:pPr>
              <a:lnSpc>
                <a:spcPct val="115000"/>
              </a:lnSpc>
              <a:spcAft>
                <a:spcPts val="200"/>
              </a:spcAft>
              <a:defRPr sz="1300" b="1" i="0">
                <a:solidFill>
                  <a:srgbClr val="FFFFFF"/>
                </a:solidFill>
                <a:latin typeface="Calibri"/>
              </a:defRPr>
            </a:pPr>
            <a:r>
              <a:t>• Step 1: Mini-batch Mean</a:t>
            </a:r>
          </a:p>
          <a:p>
            <a:pPr>
              <a:lnSpc>
                <a:spcPct val="115000"/>
              </a:lnSpc>
              <a:spcAft>
                <a:spcPts val="800"/>
              </a:spcAft>
              <a:defRPr sz="2000" b="1" i="0">
                <a:solidFill>
                  <a:srgbClr val="FBBF24"/>
                </a:solidFill>
                <a:latin typeface="Georgia"/>
              </a:defRPr>
            </a:pPr>
            <a:r>
              <a:t>     μ_B = (1/m) * Σᵢ₌₁ᵐ xᵢ</a:t>
            </a:r>
          </a:p>
          <a:p>
            <a:pPr>
              <a:lnSpc>
                <a:spcPct val="115000"/>
              </a:lnSpc>
              <a:spcAft>
                <a:spcPts val="200"/>
              </a:spcAft>
              <a:defRPr sz="1300" b="1" i="0">
                <a:solidFill>
                  <a:srgbClr val="FFFFFF"/>
                </a:solidFill>
                <a:latin typeface="Calibri"/>
              </a:defRPr>
            </a:pPr>
            <a:r>
              <a:t>• Step 2: Mini-batch Variance</a:t>
            </a:r>
          </a:p>
          <a:p>
            <a:pPr>
              <a:lnSpc>
                <a:spcPct val="115000"/>
              </a:lnSpc>
              <a:spcAft>
                <a:spcPts val="800"/>
              </a:spcAft>
              <a:defRPr sz="2000" b="1" i="0">
                <a:solidFill>
                  <a:srgbClr val="FBBF24"/>
                </a:solidFill>
                <a:latin typeface="Georgia"/>
              </a:defRPr>
            </a:pPr>
            <a:r>
              <a:t>     σ_B² = (1/m) * Σᵢ₌₁ᵐ (xᵢ - μ_B)²</a:t>
            </a:r>
          </a:p>
          <a:p>
            <a:pPr>
              <a:lnSpc>
                <a:spcPct val="115000"/>
              </a:lnSpc>
              <a:spcAft>
                <a:spcPts val="200"/>
              </a:spcAft>
              <a:defRPr sz="1300" b="1" i="0">
                <a:solidFill>
                  <a:srgbClr val="FFFFFF"/>
                </a:solidFill>
                <a:latin typeface="Calibri"/>
              </a:defRPr>
            </a:pPr>
            <a:r>
              <a:t>• Step 3: Normalize Activation</a:t>
            </a:r>
          </a:p>
          <a:p>
            <a:pPr>
              <a:lnSpc>
                <a:spcPct val="115000"/>
              </a:lnSpc>
              <a:spcAft>
                <a:spcPts val="800"/>
              </a:spcAft>
              <a:defRPr sz="2000" b="1" i="0">
                <a:solidFill>
                  <a:srgbClr val="FBBF24"/>
                </a:solidFill>
                <a:latin typeface="Georgia"/>
              </a:defRPr>
            </a:pPr>
            <a:r>
              <a:t>     x̂ᵢ = (xᵢ - μ_B) / √(σ_B² + ε)</a:t>
            </a:r>
          </a:p>
          <a:p>
            <a:pPr>
              <a:lnSpc>
                <a:spcPct val="115000"/>
              </a:lnSpc>
              <a:spcAft>
                <a:spcPts val="200"/>
              </a:spcAft>
              <a:defRPr sz="1300" b="1" i="0">
                <a:solidFill>
                  <a:srgbClr val="FFFFFF"/>
                </a:solidFill>
                <a:latin typeface="Calibri"/>
              </a:defRPr>
            </a:pPr>
            <a:r>
              <a:t>• Step 4: Scale and Shift (Learnable)</a:t>
            </a:r>
          </a:p>
          <a:p>
            <a:pPr>
              <a:lnSpc>
                <a:spcPct val="115000"/>
              </a:lnSpc>
              <a:spcAft>
                <a:spcPts val="600"/>
              </a:spcAft>
              <a:defRPr sz="2000" b="1" i="0">
                <a:solidFill>
                  <a:srgbClr val="FBBF24"/>
                </a:solidFill>
                <a:latin typeface="Georgia"/>
              </a:defRPr>
            </a:pPr>
            <a:r>
              <a:t>     yᵢ = γ * x̂ᵢ + β</a:t>
            </a:r>
          </a:p>
        </p:txBody>
      </p:sp>
      <p:sp>
        <p:nvSpPr>
          <p:cNvPr id="6" name="Rounded Rectangle 5"/>
          <p:cNvSpPr/>
          <p:nvPr/>
        </p:nvSpPr>
        <p:spPr>
          <a:xfrm>
            <a:off x="6339535"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Why it Stabilizes Gradient Flow</a:t>
            </a:r>
          </a:p>
          <a:p>
            <a:pPr>
              <a:lnSpc>
                <a:spcPct val="115000"/>
              </a:lnSpc>
              <a:spcAft>
                <a:spcPts val="200"/>
              </a:spcAft>
              <a:defRPr sz="1400" b="1" i="0">
                <a:solidFill>
                  <a:srgbClr val="FFFFFF"/>
                </a:solidFill>
                <a:latin typeface="Calibri"/>
              </a:defRPr>
            </a:pPr>
            <a:r>
              <a:t>• Decoupling Weight scale from Activation scale:</a:t>
            </a:r>
          </a:p>
          <a:p>
            <a:pPr>
              <a:lnSpc>
                <a:spcPct val="115000"/>
              </a:lnSpc>
              <a:spcAft>
                <a:spcPts val="1200"/>
              </a:spcAft>
              <a:defRPr sz="1300" b="0" i="0">
                <a:solidFill>
                  <a:srgbClr val="D1D5DB"/>
                </a:solidFill>
                <a:latin typeface="Calibri"/>
              </a:defRPr>
            </a:pPr>
            <a:r>
              <a:t>  - Dividing by standard deviation ensures activations never shrink to zero or blow up to infinity, regardless of weight magnitudes.</a:t>
            </a:r>
          </a:p>
          <a:p>
            <a:pPr>
              <a:lnSpc>
                <a:spcPct val="115000"/>
              </a:lnSpc>
              <a:spcAft>
                <a:spcPts val="200"/>
              </a:spcAft>
              <a:defRPr sz="1400" b="1" i="0">
                <a:solidFill>
                  <a:srgbClr val="FFFFFF"/>
                </a:solidFill>
                <a:latin typeface="Calibri"/>
              </a:defRPr>
            </a:pPr>
            <a:r>
              <a:t>• Preserving Representation Capacity (γ and β):</a:t>
            </a:r>
          </a:p>
          <a:p>
            <a:pPr>
              <a:lnSpc>
                <a:spcPct val="115000"/>
              </a:lnSpc>
              <a:spcAft>
                <a:spcPts val="1200"/>
              </a:spcAft>
              <a:defRPr sz="1300" b="0" i="0">
                <a:solidFill>
                  <a:srgbClr val="D1D5DB"/>
                </a:solidFill>
                <a:latin typeface="Calibri"/>
              </a:defRPr>
            </a:pPr>
            <a:r>
              <a:t>  - Learnable scale (γ) and shift (β) parameters let the network restore the original distribution if it is optimal for learning.</a:t>
            </a:r>
          </a:p>
          <a:p>
            <a:pPr>
              <a:lnSpc>
                <a:spcPct val="115000"/>
              </a:lnSpc>
              <a:spcAft>
                <a:spcPts val="200"/>
              </a:spcAft>
              <a:defRPr sz="1400" b="1" i="0">
                <a:solidFill>
                  <a:srgbClr val="FFFFFF"/>
                </a:solidFill>
                <a:latin typeface="Calibri"/>
              </a:defRPr>
            </a:pPr>
            <a:r>
              <a:t>• Smoother Loss Landscape:</a:t>
            </a:r>
          </a:p>
          <a:p>
            <a:pPr>
              <a:lnSpc>
                <a:spcPct val="115000"/>
              </a:lnSpc>
              <a:spcAft>
                <a:spcPts val="600"/>
              </a:spcAft>
              <a:defRPr sz="1300" b="0" i="0">
                <a:solidFill>
                  <a:srgbClr val="D1D5DB"/>
                </a:solidFill>
                <a:latin typeface="Calibri"/>
              </a:defRPr>
            </a:pPr>
            <a:r>
              <a:t>  - Standardizing intermediate layers prevents extreme gradient fluctuations, leading to a much smoother optimization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Summary of Empirical Findings</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1371600" y="1645920"/>
          <a:ext cx="9448495" cy="2926080"/>
        </p:xfrm>
        <a:graphic>
          <a:graphicData uri="http://schemas.openxmlformats.org/drawingml/2006/table">
            <a:tbl>
              <a:tblPr firstRow="1" bandRow="1">
                <a:tableStyleId>{5C22544A-7EE6-4342-B048-85BDC9FD1C3A}</a:tableStyleId>
              </a:tblPr>
              <a:tblGrid>
                <a:gridCol w="3200400"/>
                <a:gridCol w="1645920"/>
                <a:gridCol w="2286000"/>
                <a:gridCol w="2316175"/>
              </a:tblGrid>
              <a:tr h="731520">
                <a:tc>
                  <a:txBody>
                    <a:bodyPr/>
                    <a:lstStyle/>
                    <a:p>
                      <a:pPr algn="ctr">
                        <a:lnSpc>
                          <a:spcPct val="115000"/>
                        </a:lnSpc>
                        <a:spcAft>
                          <a:spcPts val="0"/>
                        </a:spcAft>
                        <a:defRPr sz="1500" b="1" i="0">
                          <a:solidFill>
                            <a:srgbClr val="FFFFFF"/>
                          </a:solidFill>
                          <a:latin typeface="Georgia"/>
                        </a:defRPr>
                      </a:pPr>
                      <a:r>
                        <a:t>Experiment</a:t>
                      </a:r>
                    </a:p>
                  </a:txBody>
                  <a:tcPr anchor="ctr">
                    <a:solidFill>
                      <a:srgbClr val="B47314"/>
                    </a:solidFill>
                  </a:tcPr>
                </a:tc>
                <a:tc>
                  <a:txBody>
                    <a:bodyPr/>
                    <a:lstStyle/>
                    <a:p>
                      <a:pPr algn="ctr">
                        <a:lnSpc>
                          <a:spcPct val="115000"/>
                        </a:lnSpc>
                        <a:spcAft>
                          <a:spcPts val="0"/>
                        </a:spcAft>
                        <a:defRPr sz="1500" b="1" i="0">
                          <a:solidFill>
                            <a:srgbClr val="FFFFFF"/>
                          </a:solidFill>
                          <a:latin typeface="Georgia"/>
                        </a:defRPr>
                      </a:pPr>
                      <a:r>
                        <a:t>Metric</a:t>
                      </a:r>
                    </a:p>
                  </a:txBody>
                  <a:tcPr anchor="ctr">
                    <a:solidFill>
                      <a:srgbClr val="B47314"/>
                    </a:solidFill>
                  </a:tcPr>
                </a:tc>
                <a:tc>
                  <a:txBody>
                    <a:bodyPr/>
                    <a:lstStyle/>
                    <a:p>
                      <a:pPr algn="ctr">
                        <a:lnSpc>
                          <a:spcPct val="115000"/>
                        </a:lnSpc>
                        <a:spcAft>
                          <a:spcPts val="0"/>
                        </a:spcAft>
                        <a:defRPr sz="1500" b="1" i="0">
                          <a:solidFill>
                            <a:srgbClr val="FFFFFF"/>
                          </a:solidFill>
                          <a:latin typeface="Georgia"/>
                        </a:defRPr>
                      </a:pPr>
                      <a:r>
                        <a:t>No Batch Norm (Baseline)</a:t>
                      </a:r>
                    </a:p>
                  </a:txBody>
                  <a:tcPr anchor="ctr">
                    <a:solidFill>
                      <a:srgbClr val="B47314"/>
                    </a:solidFill>
                  </a:tcPr>
                </a:tc>
                <a:tc>
                  <a:txBody>
                    <a:bodyPr/>
                    <a:lstStyle/>
                    <a:p>
                      <a:pPr algn="ctr">
                        <a:lnSpc>
                          <a:spcPct val="115000"/>
                        </a:lnSpc>
                        <a:spcAft>
                          <a:spcPts val="0"/>
                        </a:spcAft>
                        <a:defRPr sz="1500" b="1" i="0">
                          <a:solidFill>
                            <a:srgbClr val="FFFFFF"/>
                          </a:solidFill>
                          <a:latin typeface="Georgia"/>
                        </a:defRPr>
                      </a:pPr>
                      <a:r>
                        <a:t>With Batch Norm</a:t>
                      </a:r>
                    </a:p>
                  </a:txBody>
                  <a:tcPr anchor="ctr">
                    <a:solidFill>
                      <a:srgbClr val="B47314"/>
                    </a:solidFill>
                  </a:tcPr>
                </a:tc>
              </a:tr>
              <a:tr h="731520">
                <a:tc>
                  <a:txBody>
                    <a:bodyPr/>
                    <a:lstStyle/>
                    <a:p>
                      <a:pPr algn="ctr">
                        <a:lnSpc>
                          <a:spcPct val="115000"/>
                        </a:lnSpc>
                        <a:spcAft>
                          <a:spcPts val="0"/>
                        </a:spcAft>
                        <a:defRPr sz="1400" b="0" i="0">
                          <a:solidFill>
                            <a:srgbClr val="D1D5DB"/>
                          </a:solidFill>
                          <a:latin typeface="Calibri"/>
                        </a:defRPr>
                      </a:pPr>
                      <a:r>
                        <a:t>Standard Training (LR=0.01)</a:t>
                      </a:r>
                    </a:p>
                  </a:txBody>
                  <a:tcPr anchor="ctr">
                    <a:solidFill>
                      <a:srgbClr val="1A202C"/>
                    </a:solidFill>
                  </a:tcPr>
                </a:tc>
                <a:tc>
                  <a:txBody>
                    <a:bodyPr/>
                    <a:lstStyle/>
                    <a:p>
                      <a:pPr algn="ctr">
                        <a:lnSpc>
                          <a:spcPct val="115000"/>
                        </a:lnSpc>
                        <a:spcAft>
                          <a:spcPts val="0"/>
                        </a:spcAft>
                        <a:defRPr sz="1400" b="0" i="0">
                          <a:solidFill>
                            <a:srgbClr val="D1D5DB"/>
                          </a:solidFill>
                          <a:latin typeface="Calibri"/>
                        </a:defRPr>
                      </a:pPr>
                      <a:r>
                        <a:t>Test Accuracy</a:t>
                      </a:r>
                    </a:p>
                  </a:txBody>
                  <a:tcPr anchor="ctr">
                    <a:solidFill>
                      <a:srgbClr val="1A202C"/>
                    </a:solidFill>
                  </a:tcPr>
                </a:tc>
                <a:tc>
                  <a:txBody>
                    <a:bodyPr/>
                    <a:lstStyle/>
                    <a:p>
                      <a:pPr algn="ctr">
                        <a:lnSpc>
                          <a:spcPct val="115000"/>
                        </a:lnSpc>
                        <a:spcAft>
                          <a:spcPts val="0"/>
                        </a:spcAft>
                        <a:defRPr sz="1400" b="0" i="0">
                          <a:solidFill>
                            <a:srgbClr val="D1D5DB"/>
                          </a:solidFill>
                          <a:latin typeface="Calibri"/>
                        </a:defRPr>
                      </a:pPr>
                      <a:r>
                        <a:t>92.83%</a:t>
                      </a:r>
                    </a:p>
                  </a:txBody>
                  <a:tcPr anchor="ctr">
                    <a:solidFill>
                      <a:srgbClr val="1A202C"/>
                    </a:solidFill>
                  </a:tcPr>
                </a:tc>
                <a:tc>
                  <a:txBody>
                    <a:bodyPr/>
                    <a:lstStyle/>
                    <a:p>
                      <a:pPr algn="ctr">
                        <a:lnSpc>
                          <a:spcPct val="115000"/>
                        </a:lnSpc>
                        <a:spcAft>
                          <a:spcPts val="0"/>
                        </a:spcAft>
                        <a:defRPr sz="1400" b="1" i="0">
                          <a:solidFill>
                            <a:srgbClr val="FBBF24"/>
                          </a:solidFill>
                          <a:latin typeface="Calibri"/>
                        </a:defRPr>
                      </a:pPr>
                      <a:r>
                        <a:t>97.10% (Accelerated)</a:t>
                      </a:r>
                    </a:p>
                  </a:txBody>
                  <a:tcPr anchor="ctr">
                    <a:solidFill>
                      <a:srgbClr val="1A202C"/>
                    </a:solidFill>
                  </a:tcPr>
                </a:tc>
              </a:tr>
              <a:tr h="731520">
                <a:tc>
                  <a:txBody>
                    <a:bodyPr/>
                    <a:lstStyle/>
                    <a:p>
                      <a:pPr algn="ctr">
                        <a:lnSpc>
                          <a:spcPct val="115000"/>
                        </a:lnSpc>
                        <a:spcAft>
                          <a:spcPts val="0"/>
                        </a:spcAft>
                        <a:defRPr sz="1400" b="0" i="0">
                          <a:solidFill>
                            <a:srgbClr val="D1D5DB"/>
                          </a:solidFill>
                          <a:latin typeface="Calibri"/>
                        </a:defRPr>
                      </a:pPr>
                      <a:r>
                        <a:t>High Learning Rate Stress Test (LR=0.2)</a:t>
                      </a:r>
                    </a:p>
                  </a:txBody>
                  <a:tcPr anchor="ctr">
                    <a:solidFill>
                      <a:srgbClr val="101622"/>
                    </a:solidFill>
                  </a:tcPr>
                </a:tc>
                <a:tc>
                  <a:txBody>
                    <a:bodyPr/>
                    <a:lstStyle/>
                    <a:p>
                      <a:pPr algn="ctr">
                        <a:lnSpc>
                          <a:spcPct val="115000"/>
                        </a:lnSpc>
                        <a:spcAft>
                          <a:spcPts val="0"/>
                        </a:spcAft>
                        <a:defRPr sz="1400" b="0" i="0">
                          <a:solidFill>
                            <a:srgbClr val="D1D5DB"/>
                          </a:solidFill>
                          <a:latin typeface="Calibri"/>
                        </a:defRPr>
                      </a:pPr>
                      <a:r>
                        <a:t>Test Accuracy</a:t>
                      </a:r>
                    </a:p>
                  </a:txBody>
                  <a:tcPr anchor="ctr">
                    <a:solidFill>
                      <a:srgbClr val="101622"/>
                    </a:solidFill>
                  </a:tcPr>
                </a:tc>
                <a:tc>
                  <a:txBody>
                    <a:bodyPr/>
                    <a:lstStyle/>
                    <a:p>
                      <a:pPr algn="ctr">
                        <a:lnSpc>
                          <a:spcPct val="115000"/>
                        </a:lnSpc>
                        <a:spcAft>
                          <a:spcPts val="0"/>
                        </a:spcAft>
                        <a:defRPr sz="1400" b="0" i="0">
                          <a:solidFill>
                            <a:srgbClr val="D1D5DB"/>
                          </a:solidFill>
                          <a:latin typeface="Calibri"/>
                        </a:defRPr>
                      </a:pPr>
                      <a:r>
                        <a:t>11.35% (Diverged)</a:t>
                      </a:r>
                    </a:p>
                  </a:txBody>
                  <a:tcPr anchor="ctr">
                    <a:solidFill>
                      <a:srgbClr val="101622"/>
                    </a:solidFill>
                  </a:tcPr>
                </a:tc>
                <a:tc>
                  <a:txBody>
                    <a:bodyPr/>
                    <a:lstStyle/>
                    <a:p>
                      <a:pPr algn="ctr">
                        <a:lnSpc>
                          <a:spcPct val="115000"/>
                        </a:lnSpc>
                        <a:spcAft>
                          <a:spcPts val="0"/>
                        </a:spcAft>
                        <a:defRPr sz="1400" b="1" i="0">
                          <a:solidFill>
                            <a:srgbClr val="FBBF24"/>
                          </a:solidFill>
                          <a:latin typeface="Calibri"/>
                        </a:defRPr>
                      </a:pPr>
                      <a:r>
                        <a:t>98.24% (Stable)</a:t>
                      </a:r>
                    </a:p>
                  </a:txBody>
                  <a:tcPr anchor="ctr">
                    <a:solidFill>
                      <a:srgbClr val="101622"/>
                    </a:solidFill>
                  </a:tcPr>
                </a:tc>
              </a:tr>
              <a:tr h="731520">
                <a:tc>
                  <a:txBody>
                    <a:bodyPr/>
                    <a:lstStyle/>
                    <a:p>
                      <a:pPr algn="ctr">
                        <a:lnSpc>
                          <a:spcPct val="115000"/>
                        </a:lnSpc>
                        <a:spcAft>
                          <a:spcPts val="0"/>
                        </a:spcAft>
                        <a:defRPr sz="1400" b="0" i="0">
                          <a:solidFill>
                            <a:srgbClr val="D1D5DB"/>
                          </a:solidFill>
                          <a:latin typeface="Calibri"/>
                        </a:defRPr>
                      </a:pPr>
                      <a:r>
                        <a:t>Suboptimal Initialization (σ=0.001)</a:t>
                      </a:r>
                    </a:p>
                  </a:txBody>
                  <a:tcPr anchor="ctr">
                    <a:solidFill>
                      <a:srgbClr val="1A202C"/>
                    </a:solidFill>
                  </a:tcPr>
                </a:tc>
                <a:tc>
                  <a:txBody>
                    <a:bodyPr/>
                    <a:lstStyle/>
                    <a:p>
                      <a:pPr algn="ctr">
                        <a:lnSpc>
                          <a:spcPct val="115000"/>
                        </a:lnSpc>
                        <a:spcAft>
                          <a:spcPts val="0"/>
                        </a:spcAft>
                        <a:defRPr sz="1400" b="0" i="0">
                          <a:solidFill>
                            <a:srgbClr val="D1D5DB"/>
                          </a:solidFill>
                          <a:latin typeface="Calibri"/>
                        </a:defRPr>
                      </a:pPr>
                      <a:r>
                        <a:t>Test Accuracy</a:t>
                      </a:r>
                    </a:p>
                  </a:txBody>
                  <a:tcPr anchor="ctr">
                    <a:solidFill>
                      <a:srgbClr val="1A202C"/>
                    </a:solidFill>
                  </a:tcPr>
                </a:tc>
                <a:tc>
                  <a:txBody>
                    <a:bodyPr/>
                    <a:lstStyle/>
                    <a:p>
                      <a:pPr algn="ctr">
                        <a:lnSpc>
                          <a:spcPct val="115000"/>
                        </a:lnSpc>
                        <a:spcAft>
                          <a:spcPts val="0"/>
                        </a:spcAft>
                        <a:defRPr sz="1400" b="0" i="0">
                          <a:solidFill>
                            <a:srgbClr val="D1D5DB"/>
                          </a:solidFill>
                          <a:latin typeface="Calibri"/>
                        </a:defRPr>
                      </a:pPr>
                      <a:r>
                        <a:t>11.35% (Vanished)</a:t>
                      </a:r>
                    </a:p>
                  </a:txBody>
                  <a:tcPr anchor="ctr">
                    <a:solidFill>
                      <a:srgbClr val="1A202C"/>
                    </a:solidFill>
                  </a:tcPr>
                </a:tc>
                <a:tc>
                  <a:txBody>
                    <a:bodyPr/>
                    <a:lstStyle/>
                    <a:p>
                      <a:pPr algn="ctr">
                        <a:lnSpc>
                          <a:spcPct val="115000"/>
                        </a:lnSpc>
                        <a:spcAft>
                          <a:spcPts val="0"/>
                        </a:spcAft>
                        <a:defRPr sz="1400" b="1" i="0">
                          <a:solidFill>
                            <a:srgbClr val="FBBF24"/>
                          </a:solidFill>
                          <a:latin typeface="Calibri"/>
                        </a:defRPr>
                      </a:pPr>
                      <a:r>
                        <a:t>97.48% (Rescued)</a:t>
                      </a:r>
                    </a:p>
                  </a:txBody>
                  <a:tcPr anchor="ctr">
                    <a:solidFill>
                      <a:srgbClr val="1A202C"/>
                    </a:solidFill>
                  </a:tcPr>
                </a:tc>
              </a:tr>
            </a:tbl>
          </a:graphicData>
        </a:graphic>
      </p:graphicFrame>
      <p:sp>
        <p:nvSpPr>
          <p:cNvPr id="5" name="TextBox 4"/>
          <p:cNvSpPr txBox="1"/>
          <p:nvPr/>
        </p:nvSpPr>
        <p:spPr>
          <a:xfrm>
            <a:off x="1371600" y="4846320"/>
            <a:ext cx="9448495" cy="1280160"/>
          </a:xfrm>
          <a:prstGeom prst="rect">
            <a:avLst/>
          </a:prstGeom>
          <a:noFill/>
        </p:spPr>
        <p:txBody>
          <a:bodyPr wrap="square">
            <a:spAutoFit/>
          </a:bodyPr>
          <a:lstStyle/>
          <a:p>
            <a:pPr>
              <a:lnSpc>
                <a:spcPct val="115000"/>
              </a:lnSpc>
              <a:spcAft>
                <a:spcPts val="400"/>
              </a:spcAft>
              <a:defRPr sz="1600" b="1" i="0">
                <a:solidFill>
                  <a:srgbClr val="FBBF24"/>
                </a:solidFill>
                <a:latin typeface="Georgia"/>
              </a:defRPr>
            </a:pPr>
            <a:r>
              <a:t>Key Empirical Findings</a:t>
            </a:r>
          </a:p>
          <a:p>
            <a:pPr>
              <a:lnSpc>
                <a:spcPct val="115000"/>
              </a:lnSpc>
              <a:spcAft>
                <a:spcPts val="600"/>
              </a:spcAft>
              <a:defRPr sz="1300" b="0" i="0">
                <a:solidFill>
                  <a:srgbClr val="D1D5DB"/>
                </a:solidFill>
                <a:latin typeface="Calibri"/>
              </a:defRPr>
            </a:pPr>
            <a:r>
              <a:t>• Batch Normalization consistently out-performs the baseline in standard settings and successfully rescues the network from extreme training failures (learning rate explosion and weight initialization vanishing).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Connections to Deep Learning Theory</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Universal Approximation &amp; Initialization</a:t>
            </a:r>
          </a:p>
          <a:p>
            <a:pPr>
              <a:lnSpc>
                <a:spcPct val="115000"/>
              </a:lnSpc>
              <a:spcAft>
                <a:spcPts val="200"/>
              </a:spcAft>
              <a:defRPr sz="1400" b="1" i="0">
                <a:solidFill>
                  <a:srgbClr val="FFFFFF"/>
                </a:solidFill>
                <a:latin typeface="Calibri"/>
              </a:defRPr>
            </a:pPr>
            <a:r>
              <a:t>• Universal Approximation Theorem:</a:t>
            </a:r>
          </a:p>
          <a:p>
            <a:pPr>
              <a:lnSpc>
                <a:spcPct val="115000"/>
              </a:lnSpc>
              <a:spcAft>
                <a:spcPts val="1600"/>
              </a:spcAft>
              <a:defRPr sz="1200" b="0" i="0">
                <a:solidFill>
                  <a:srgbClr val="D1D5DB"/>
                </a:solidFill>
                <a:latin typeface="Calibri"/>
              </a:defRPr>
            </a:pPr>
            <a:r>
              <a:t>  - Standard deep feedforward networks and Recurrent structures can approximate arbitrary complex non-linear mappings. Character-level LSTMs utilize this representation capacity to discover language syntax dynamically from character context.</a:t>
            </a:r>
          </a:p>
          <a:p>
            <a:pPr>
              <a:lnSpc>
                <a:spcPct val="115000"/>
              </a:lnSpc>
              <a:spcAft>
                <a:spcPts val="200"/>
              </a:spcAft>
              <a:defRPr sz="1400" b="1" i="0">
                <a:solidFill>
                  <a:srgbClr val="FFFFFF"/>
                </a:solidFill>
                <a:latin typeface="Calibri"/>
              </a:defRPr>
            </a:pPr>
            <a:r>
              <a:t>• Weight Initialization (Xavier / He):</a:t>
            </a:r>
          </a:p>
          <a:p>
            <a:pPr>
              <a:lnSpc>
                <a:spcPct val="115000"/>
              </a:lnSpc>
              <a:spcAft>
                <a:spcPts val="600"/>
              </a:spcAft>
              <a:defRPr sz="1200" b="0" i="0">
                <a:solidFill>
                  <a:srgbClr val="D1D5DB"/>
                </a:solidFill>
                <a:latin typeface="Calibri"/>
              </a:defRPr>
            </a:pPr>
            <a:r>
              <a:t>  - Proper initialization (e.g. He initialization for ReLU) is critical to prevent activation variance from vanishing or exploding in deep layers. Batch Norm relaxes this structural requirement by dynamically rescaling the variance at every layer.</a:t>
            </a:r>
          </a:p>
        </p:txBody>
      </p:sp>
      <p:sp>
        <p:nvSpPr>
          <p:cNvPr id="6" name="Rounded Rectangle 5"/>
          <p:cNvSpPr/>
          <p:nvPr/>
        </p:nvSpPr>
        <p:spPr>
          <a:xfrm>
            <a:off x="6339535"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Optimization Dynamics &amp; Regularization</a:t>
            </a:r>
          </a:p>
          <a:p>
            <a:pPr>
              <a:lnSpc>
                <a:spcPct val="115000"/>
              </a:lnSpc>
              <a:spcAft>
                <a:spcPts val="200"/>
              </a:spcAft>
              <a:defRPr sz="1400" b="1" i="0">
                <a:solidFill>
                  <a:srgbClr val="FFFFFF"/>
                </a:solidFill>
                <a:latin typeface="Calibri"/>
              </a:defRPr>
            </a:pPr>
            <a:r>
              <a:t>• Optimization Landscapes:</a:t>
            </a:r>
          </a:p>
          <a:p>
            <a:pPr>
              <a:lnSpc>
                <a:spcPct val="115000"/>
              </a:lnSpc>
              <a:spcAft>
                <a:spcPts val="1600"/>
              </a:spcAft>
              <a:defRPr sz="1200" b="0" i="0">
                <a:solidFill>
                  <a:srgbClr val="D1D5DB"/>
                </a:solidFill>
                <a:latin typeface="Calibri"/>
              </a:defRPr>
            </a:pPr>
            <a:r>
              <a:t>  - High learning rates cause gradient updates to overshoot local minima and diverge. Batch Norm smoothens the optimization landscape, preventing gradients from exploding and making optimization highly stable.</a:t>
            </a:r>
          </a:p>
          <a:p>
            <a:pPr>
              <a:lnSpc>
                <a:spcPct val="115000"/>
              </a:lnSpc>
              <a:spcAft>
                <a:spcPts val="200"/>
              </a:spcAft>
              <a:defRPr sz="1400" b="1" i="0">
                <a:solidFill>
                  <a:srgbClr val="FFFFFF"/>
                </a:solidFill>
                <a:latin typeface="Calibri"/>
              </a:defRPr>
            </a:pPr>
            <a:r>
              <a:t>• Implicit Regularization:</a:t>
            </a:r>
          </a:p>
          <a:p>
            <a:pPr>
              <a:lnSpc>
                <a:spcPct val="115000"/>
              </a:lnSpc>
              <a:spcAft>
                <a:spcPts val="600"/>
              </a:spcAft>
              <a:defRPr sz="1200" b="0" i="0">
                <a:solidFill>
                  <a:srgbClr val="D1D5DB"/>
                </a:solidFill>
                <a:latin typeface="Calibri"/>
              </a:defRPr>
            </a:pPr>
            <a:r>
              <a:t>  - The calculation of mean and variance over finite mini-batches introduces moderate stochastic noise into layer activations. This noise acts as a regularizer, reducing overfitting similar to Dropout.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728655" cy="731520"/>
          </a:xfrm>
          <a:prstGeom prst="rect">
            <a:avLst/>
          </a:prstGeom>
          <a:noFill/>
        </p:spPr>
        <p:txBody>
          <a:bodyPr wrap="square" lIns="0" rIns="0" tIns="0" bIns="0">
            <a:spAutoFit/>
          </a:bodyPr>
          <a:lstStyle/>
          <a:p>
            <a:pPr>
              <a:defRPr sz="3200" b="1">
                <a:solidFill>
                  <a:srgbClr val="FBBF24"/>
                </a:solidFill>
                <a:latin typeface="Georgia"/>
              </a:defRPr>
            </a:pPr>
            <a:r>
              <a:t>Conclusion and Q&amp;A</a:t>
            </a:r>
          </a:p>
        </p:txBody>
      </p:sp>
      <p:sp>
        <p:nvSpPr>
          <p:cNvPr id="3" name="Rectangle 2"/>
          <p:cNvSpPr/>
          <p:nvPr/>
        </p:nvSpPr>
        <p:spPr>
          <a:xfrm>
            <a:off x="731520" y="1188720"/>
            <a:ext cx="10728655" cy="18288"/>
          </a:xfrm>
          <a:prstGeom prst="rect">
            <a:avLst/>
          </a:prstGeom>
          <a:solidFill>
            <a:srgbClr val="B47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572000"/>
          </a:xfrm>
          <a:prstGeom prst="roundRect">
            <a:avLst/>
          </a:prstGeom>
          <a:solidFill>
            <a:srgbClr val="141B2D"/>
          </a:solidFill>
          <a:ln w="19050">
            <a:solidFill>
              <a:srgbClr val="28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4663440" cy="4114800"/>
          </a:xfrm>
          <a:prstGeom prst="rect">
            <a:avLst/>
          </a:prstGeom>
          <a:noFill/>
        </p:spPr>
        <p:txBody>
          <a:bodyPr wrap="square">
            <a:spAutoFit/>
          </a:bodyPr>
          <a:lstStyle/>
          <a:p>
            <a:pPr>
              <a:lnSpc>
                <a:spcPct val="115000"/>
              </a:lnSpc>
              <a:spcAft>
                <a:spcPts val="1200"/>
              </a:spcAft>
              <a:defRPr sz="1800" b="1" i="0">
                <a:solidFill>
                  <a:srgbClr val="FBBF24"/>
                </a:solidFill>
                <a:latin typeface="Georgia"/>
              </a:defRPr>
            </a:pPr>
            <a:r>
              <a:t>Key Summary Takeaways</a:t>
            </a:r>
          </a:p>
          <a:p>
            <a:pPr>
              <a:lnSpc>
                <a:spcPct val="115000"/>
              </a:lnSpc>
              <a:spcAft>
                <a:spcPts val="200"/>
              </a:spcAft>
              <a:defRPr sz="1400" b="1" i="0">
                <a:solidFill>
                  <a:srgbClr val="FFFFFF"/>
                </a:solidFill>
                <a:latin typeface="Calibri"/>
              </a:defRPr>
            </a:pPr>
            <a:r>
              <a:t>• Sequence Modeling with LSTMs:</a:t>
            </a:r>
          </a:p>
          <a:p>
            <a:pPr>
              <a:lnSpc>
                <a:spcPct val="115000"/>
              </a:lnSpc>
              <a:spcAft>
                <a:spcPts val="1600"/>
              </a:spcAft>
              <a:defRPr sz="1300" b="0" i="0">
                <a:solidFill>
                  <a:srgbClr val="D1D5DB"/>
                </a:solidFill>
                <a:latin typeface="Calibri"/>
              </a:defRPr>
            </a:pPr>
            <a:r>
              <a:t>  - Stacked LSTMs can successfully learn the structural, orthographical, and grammatical rules of natural text entirely from character sequences without pre-defined vocabularies.</a:t>
            </a:r>
          </a:p>
          <a:p>
            <a:pPr>
              <a:lnSpc>
                <a:spcPct val="115000"/>
              </a:lnSpc>
              <a:spcAft>
                <a:spcPts val="200"/>
              </a:spcAft>
              <a:defRPr sz="1400" b="1" i="0">
                <a:solidFill>
                  <a:srgbClr val="FFFFFF"/>
                </a:solidFill>
                <a:latin typeface="Calibri"/>
              </a:defRPr>
            </a:pPr>
            <a:r>
              <a:t>• Activation Normalization with Batch Norm:</a:t>
            </a:r>
          </a:p>
          <a:p>
            <a:pPr>
              <a:lnSpc>
                <a:spcPct val="115000"/>
              </a:lnSpc>
              <a:spcAft>
                <a:spcPts val="600"/>
              </a:spcAft>
              <a:defRPr sz="1300" b="0" i="0">
                <a:solidFill>
                  <a:srgbClr val="D1D5DB"/>
                </a:solidFill>
                <a:latin typeface="Calibri"/>
              </a:defRPr>
            </a:pPr>
            <a:r>
              <a:t>  - Batch Normalization is a critical architectural element that stabilizes training, accelerates convergence, and provides extreme robustness to learning rates and initialization scales.</a:t>
            </a:r>
          </a:p>
        </p:txBody>
      </p:sp>
      <p:sp>
        <p:nvSpPr>
          <p:cNvPr id="6" name="Rounded Rectangle 5"/>
          <p:cNvSpPr/>
          <p:nvPr/>
        </p:nvSpPr>
        <p:spPr>
          <a:xfrm>
            <a:off x="6339535" y="1463040"/>
            <a:ext cx="5120640" cy="4572000"/>
          </a:xfrm>
          <a:prstGeom prst="roundRect">
            <a:avLst/>
          </a:prstGeom>
          <a:solidFill>
            <a:srgbClr val="141B2D"/>
          </a:solidFill>
          <a:ln w="19050">
            <a:solidFill>
              <a:srgbClr val="B473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8135" y="1691640"/>
            <a:ext cx="4663440" cy="4114800"/>
          </a:xfrm>
          <a:prstGeom prst="rect">
            <a:avLst/>
          </a:prstGeom>
          <a:noFill/>
        </p:spPr>
        <p:txBody>
          <a:bodyPr wrap="square">
            <a:spAutoFit/>
          </a:bodyPr>
          <a:lstStyle/>
          <a:p>
            <a:pPr>
              <a:lnSpc>
                <a:spcPct val="115000"/>
              </a:lnSpc>
              <a:spcAft>
                <a:spcPts val="1600"/>
              </a:spcAft>
              <a:defRPr sz="2200" b="1" i="0">
                <a:solidFill>
                  <a:srgbClr val="FBBF24"/>
                </a:solidFill>
                <a:latin typeface="Georgia"/>
              </a:defRPr>
            </a:pPr>
            <a:r>
              <a:t>Thank you! Questions?</a:t>
            </a:r>
          </a:p>
          <a:p>
            <a:pPr>
              <a:lnSpc>
                <a:spcPct val="115000"/>
              </a:lnSpc>
              <a:spcAft>
                <a:spcPts val="800"/>
              </a:spcAft>
              <a:defRPr sz="1400" b="1" i="0">
                <a:solidFill>
                  <a:srgbClr val="FFFFFF"/>
                </a:solidFill>
                <a:latin typeface="Calibri"/>
              </a:defRPr>
            </a:pPr>
            <a:r>
              <a:t>Presenters Panel:</a:t>
            </a:r>
          </a:p>
          <a:p>
            <a:pPr>
              <a:lnSpc>
                <a:spcPct val="115000"/>
              </a:lnSpc>
              <a:spcAft>
                <a:spcPts val="400"/>
              </a:spcAft>
              <a:defRPr sz="1300" b="0" i="0">
                <a:solidFill>
                  <a:srgbClr val="D1D5DB"/>
                </a:solidFill>
                <a:latin typeface="Calibri"/>
              </a:defRPr>
            </a:pPr>
            <a:r>
              <a:t>  • MD Kaif Molla</a:t>
            </a:r>
          </a:p>
          <a:p>
            <a:pPr>
              <a:lnSpc>
                <a:spcPct val="115000"/>
              </a:lnSpc>
              <a:spcAft>
                <a:spcPts val="400"/>
              </a:spcAft>
              <a:defRPr sz="1300" b="0" i="0">
                <a:solidFill>
                  <a:srgbClr val="D1D5DB"/>
                </a:solidFill>
                <a:latin typeface="Calibri"/>
              </a:defRPr>
            </a:pPr>
            <a:r>
              <a:t>  • Arhan Das</a:t>
            </a:r>
          </a:p>
          <a:p>
            <a:pPr>
              <a:lnSpc>
                <a:spcPct val="115000"/>
              </a:lnSpc>
              <a:spcAft>
                <a:spcPts val="400"/>
              </a:spcAft>
              <a:defRPr sz="1300" b="0" i="0">
                <a:solidFill>
                  <a:srgbClr val="D1D5DB"/>
                </a:solidFill>
                <a:latin typeface="Calibri"/>
              </a:defRPr>
            </a:pPr>
            <a:r>
              <a:t>  • Sumit Akhuli</a:t>
            </a:r>
          </a:p>
          <a:p>
            <a:pPr>
              <a:lnSpc>
                <a:spcPct val="115000"/>
              </a:lnSpc>
              <a:spcAft>
                <a:spcPts val="400"/>
              </a:spcAft>
              <a:defRPr sz="1300" b="0" i="0">
                <a:solidFill>
                  <a:srgbClr val="D1D5DB"/>
                </a:solidFill>
                <a:latin typeface="Calibri"/>
              </a:defRPr>
            </a:pPr>
            <a:r>
              <a:t>  • Sarthak Mishra</a:t>
            </a:r>
          </a:p>
          <a:p>
            <a:pPr>
              <a:lnSpc>
                <a:spcPct val="115000"/>
              </a:lnSpc>
              <a:spcAft>
                <a:spcPts val="400"/>
              </a:spcAft>
              <a:defRPr sz="1300" b="0" i="0">
                <a:solidFill>
                  <a:srgbClr val="D1D5DB"/>
                </a:solidFill>
                <a:latin typeface="Calibri"/>
              </a:defRPr>
            </a:pPr>
            <a:r>
              <a:t>  • Netram Faran</a:t>
            </a:r>
          </a:p>
          <a:p>
            <a:pPr>
              <a:lnSpc>
                <a:spcPct val="115000"/>
              </a:lnSpc>
              <a:spcAft>
                <a:spcPts val="400"/>
              </a:spcAft>
              <a:defRPr sz="1300" b="0" i="0">
                <a:solidFill>
                  <a:srgbClr val="D1D5DB"/>
                </a:solidFill>
                <a:latin typeface="Calibri"/>
              </a:defRPr>
            </a:pPr>
            <a:r>
              <a:t>  • Aditya Prasad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