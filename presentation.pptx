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  <a:defRPr sz="3600" b="1" i="0">
                <a:solidFill>
                  <a:srgbClr val="FBBF24"/>
                </a:solidFill>
                <a:latin typeface="Georgia"/>
              </a:defRPr>
            </a:pPr>
            <a:r>
              <a:t>Optimization Dynamics and Sequence Generation in Deep Learning</a:t>
            </a:r>
          </a:p>
          <a:p>
            <a:pPr algn="ctr">
              <a:lnSpc>
                <a:spcPct val="115000"/>
              </a:lnSpc>
              <a:spcAft>
                <a:spcPts val="600"/>
              </a:spcAft>
              <a:defRPr sz="2000" b="0" i="1">
                <a:solidFill>
                  <a:srgbClr val="94A3B8"/>
                </a:solidFill>
                <a:latin typeface="Calibri"/>
              </a:defRPr>
            </a:pPr>
            <a:r>
              <a:t>Comparative Analysis of Batch Normalization &amp; LSTMs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3931920"/>
            <a:ext cx="9448495" cy="18288"/>
          </a:xfrm>
          <a:prstGeom prst="rect">
            <a:avLst/>
          </a:prstGeom>
          <a:solidFill>
            <a:srgbClr val="B4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206240"/>
            <a:ext cx="4572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"/>
              </a:spcAft>
              <a:defRPr sz="1300" b="1" i="0">
                <a:solidFill>
                  <a:srgbClr val="FFFFFF"/>
                </a:solidFill>
                <a:latin typeface="Georgia"/>
              </a:defRPr>
            </a:pPr>
            <a:r>
              <a:t>MD Kaif Molla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000" b="0" i="0">
                <a:solidFill>
                  <a:srgbClr val="94A3B8"/>
                </a:solidFill>
                <a:latin typeface="Calibri"/>
              </a:defRPr>
            </a:pPr>
            <a:r>
              <a:t>md.24bcs10221@sst.scaler.com</a:t>
            </a:r>
          </a:p>
          <a:p>
            <a:pPr>
              <a:lnSpc>
                <a:spcPct val="115000"/>
              </a:lnSpc>
              <a:spcAft>
                <a:spcPts val="100"/>
              </a:spcAft>
              <a:defRPr sz="1300" b="1" i="0">
                <a:solidFill>
                  <a:srgbClr val="FFFFFF"/>
                </a:solidFill>
                <a:latin typeface="Georgia"/>
              </a:defRPr>
            </a:pPr>
            <a:r>
              <a:t>Arhan Das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000" b="0" i="0">
                <a:solidFill>
                  <a:srgbClr val="94A3B8"/>
                </a:solidFill>
                <a:latin typeface="Calibri"/>
              </a:defRPr>
            </a:pPr>
            <a:r>
              <a:t>Arhan.24bcs10023@sst.scaler.com</a:t>
            </a:r>
          </a:p>
          <a:p>
            <a:pPr>
              <a:lnSpc>
                <a:spcPct val="115000"/>
              </a:lnSpc>
              <a:spcAft>
                <a:spcPts val="100"/>
              </a:spcAft>
              <a:defRPr sz="1300" b="1" i="0">
                <a:solidFill>
                  <a:srgbClr val="FFFFFF"/>
                </a:solidFill>
                <a:latin typeface="Georgia"/>
              </a:defRPr>
            </a:pPr>
            <a:r>
              <a:t>Sumit Akhuli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000" b="0" i="0">
                <a:solidFill>
                  <a:srgbClr val="94A3B8"/>
                </a:solidFill>
                <a:latin typeface="Calibri"/>
              </a:defRPr>
            </a:pPr>
            <a:r>
              <a:t>Sumit.24bcs10158@sst.scaler.com</a:t>
            </a:r>
          </a:p>
          <a:p>
            <a:pPr>
              <a:lnSpc>
                <a:spcPct val="115000"/>
              </a:lnSpc>
              <a:spcAft>
                <a:spcPts val="100"/>
              </a:spcAft>
              <a:defRPr sz="1300" b="1" i="0">
                <a:solidFill>
                  <a:srgbClr val="FFFFFF"/>
                </a:solidFill>
                <a:latin typeface="Georgia"/>
              </a:defRPr>
            </a:pPr>
            <a:r>
              <a:t>Shiva Gupta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000" b="0" i="0">
                <a:solidFill>
                  <a:srgbClr val="94A3B8"/>
                </a:solidFill>
                <a:latin typeface="Calibri"/>
              </a:defRPr>
            </a:pPr>
            <a:r>
              <a:t>shiva.24bcs10461@sst.scaler.com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4206240"/>
            <a:ext cx="4572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"/>
              </a:spcAft>
              <a:defRPr sz="1300" b="1" i="0">
                <a:solidFill>
                  <a:srgbClr val="FFFFFF"/>
                </a:solidFill>
                <a:latin typeface="Georgia"/>
              </a:defRPr>
            </a:pPr>
            <a:r>
              <a:t>Sarthak Mishra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000" b="0" i="0">
                <a:solidFill>
                  <a:srgbClr val="94A3B8"/>
                </a:solidFill>
                <a:latin typeface="Calibri"/>
              </a:defRPr>
            </a:pPr>
            <a:r>
              <a:t>Sarthak.24bcs10470@sst.scaler.com</a:t>
            </a:r>
          </a:p>
          <a:p>
            <a:pPr>
              <a:lnSpc>
                <a:spcPct val="115000"/>
              </a:lnSpc>
              <a:spcAft>
                <a:spcPts val="100"/>
              </a:spcAft>
              <a:defRPr sz="1300" b="1" i="0">
                <a:solidFill>
                  <a:srgbClr val="FFFFFF"/>
                </a:solidFill>
                <a:latin typeface="Georgia"/>
              </a:defRPr>
            </a:pPr>
            <a:r>
              <a:t>Netram Faran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000" b="0" i="0">
                <a:solidFill>
                  <a:srgbClr val="94A3B8"/>
                </a:solidFill>
                <a:latin typeface="Calibri"/>
              </a:defRPr>
            </a:pPr>
            <a:r>
              <a:t>netram.24bcs10329@sst.scaler.com</a:t>
            </a:r>
          </a:p>
          <a:p>
            <a:pPr>
              <a:lnSpc>
                <a:spcPct val="115000"/>
              </a:lnSpc>
              <a:spcAft>
                <a:spcPts val="100"/>
              </a:spcAft>
              <a:defRPr sz="1300" b="1" i="0">
                <a:solidFill>
                  <a:srgbClr val="FFFFFF"/>
                </a:solidFill>
                <a:latin typeface="Georgia"/>
              </a:defRPr>
            </a:pPr>
            <a:r>
              <a:t>Aditya Prasad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000" b="0" i="0">
                <a:solidFill>
                  <a:srgbClr val="94A3B8"/>
                </a:solidFill>
                <a:latin typeface="Calibri"/>
              </a:defRPr>
            </a:pPr>
            <a:r>
              <a:t>aditya.24bcs10179@sst.scaler.com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BBF24"/>
                </a:solidFill>
                <a:latin typeface="Georgia"/>
              </a:defRPr>
            </a:pPr>
            <a:r>
              <a:t>Task 1: AI Story Continuation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B4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728655" cy="457200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B473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9164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800" b="1" i="0">
                <a:solidFill>
                  <a:srgbClr val="FBBF24"/>
                </a:solidFill>
                <a:latin typeface="Georgia"/>
              </a:defRPr>
            </a:pPr>
            <a:r>
              <a:t>Project Objective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400" b="0" i="0">
                <a:solidFill>
                  <a:srgbClr val="D1D5DB"/>
                </a:solidFill>
                <a:latin typeface="Calibri"/>
              </a:defRPr>
            </a:pPr>
            <a:r>
              <a:t>• Train a character-level recurrent neural network to generate story continuations from text prompts.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400" b="0" i="0">
                <a:solidFill>
                  <a:srgbClr val="D1D5DB"/>
                </a:solidFill>
                <a:latin typeface="Calibri"/>
              </a:defRPr>
            </a:pPr>
            <a:r>
              <a:t>• Forces the model to learn spelling, grammar, punctuation, and style from scratch, without using pre-trained word tokens.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 b="0" i="0">
                <a:solidFill>
                  <a:srgbClr val="D1D5DB"/>
                </a:solidFill>
                <a:latin typeface="Calibri"/>
              </a:defRPr>
            </a:pPr>
            <a:r>
              <a:t>• Serves as an illustration of sequence representation learning directly from raw text sequences.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9535" y="169164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800" b="1" i="0">
                <a:solidFill>
                  <a:srgbClr val="FBBF24"/>
                </a:solidFill>
                <a:latin typeface="Georgia"/>
              </a:defRPr>
            </a:pPr>
            <a:r>
              <a:t>Core Questions Explored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400" b="0" i="0">
                <a:solidFill>
                  <a:srgbClr val="D1D5DB"/>
                </a:solidFill>
                <a:latin typeface="Calibri"/>
              </a:defRPr>
            </a:pPr>
            <a:r>
              <a:t>• Representation Learning: Can a model learn English syntax and style entirely at the character level?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400" b="0" i="0">
                <a:solidFill>
                  <a:srgbClr val="D1D5DB"/>
                </a:solidFill>
                <a:latin typeface="Calibri"/>
              </a:defRPr>
            </a:pPr>
            <a:r>
              <a:t>• Decoding Strategies: How does deterministic greedy decoding compare to temperature-based probabilistic sampling?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 b="0" i="0">
                <a:solidFill>
                  <a:srgbClr val="D1D5DB"/>
                </a:solidFill>
                <a:latin typeface="Calibri"/>
              </a:defRPr>
            </a:pPr>
            <a:r>
              <a:t>• Stylistic Nuance: How does the style of the training corpus affect the vocabulary, tone, and pacing of the generated output?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BBF24"/>
                </a:solidFill>
                <a:latin typeface="Georgia"/>
              </a:defRPr>
            </a:pPr>
            <a:r>
              <a:t>Sequence Modeling: LSTM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B4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457200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600" b="1" i="0">
                <a:solidFill>
                  <a:srgbClr val="FBBF24"/>
                </a:solidFill>
                <a:latin typeface="Georgia"/>
              </a:defRPr>
            </a:pPr>
            <a:r>
              <a:t>Why LSTM?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• Vanilla RNNs suffer from vanishing and exploding gradients due to repeated temporal multiplications.</a:t>
            </a:r>
            <a:br/>
            <a:br/>
            <a:r>
              <a:t>• LSTMs solve this by establishing cell states (Cₜ) acting as information highways where gradients can flow back freely over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3750" y="1463040"/>
            <a:ext cx="3383280" cy="457200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B473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86630" y="164592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600" b="1" i="0">
                <a:solidFill>
                  <a:srgbClr val="FBBF24"/>
                </a:solidFill>
                <a:latin typeface="Georgia"/>
              </a:defRPr>
            </a:pPr>
            <a:r>
              <a:t>Gating Mechanism</a:t>
            </a:r>
          </a:p>
          <a:p>
            <a:pPr>
              <a:lnSpc>
                <a:spcPct val="115000"/>
              </a:lnSpc>
              <a:spcAft>
                <a:spcPts val="200"/>
              </a:spcAft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• Forget Gate (f_t):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200" b="0" i="0">
                <a:solidFill>
                  <a:srgbClr val="D1D5DB"/>
                </a:solidFill>
                <a:latin typeface="Calibri"/>
              </a:defRPr>
            </a:pPr>
            <a:r>
              <a:t>  Decides what history to discard.</a:t>
            </a:r>
          </a:p>
          <a:p>
            <a:pPr>
              <a:lnSpc>
                <a:spcPct val="115000"/>
              </a:lnSpc>
              <a:spcAft>
                <a:spcPts val="200"/>
              </a:spcAft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• Input Gate (i_t):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200" b="0" i="0">
                <a:solidFill>
                  <a:srgbClr val="D1D5DB"/>
                </a:solidFill>
                <a:latin typeface="Calibri"/>
              </a:defRPr>
            </a:pPr>
            <a:r>
              <a:t>  Decides what new values to write to the cell state.</a:t>
            </a:r>
          </a:p>
          <a:p>
            <a:pPr>
              <a:lnSpc>
                <a:spcPct val="115000"/>
              </a:lnSpc>
              <a:spcAft>
                <a:spcPts val="200"/>
              </a:spcAft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• Output Gate (o_t):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 b="0" i="0">
                <a:solidFill>
                  <a:srgbClr val="D1D5DB"/>
                </a:solidFill>
                <a:latin typeface="Calibri"/>
              </a:defRPr>
            </a:pPr>
            <a:r>
              <a:t>  Decides what hidden state to output.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76895" y="1463040"/>
            <a:ext cx="3383280" cy="457200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9775" y="164592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600" b="1" i="0">
                <a:solidFill>
                  <a:srgbClr val="FBBF24"/>
                </a:solidFill>
                <a:latin typeface="Georgia"/>
              </a:defRPr>
            </a:pPr>
            <a:r>
              <a:t>Our Network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• Embedding Layer:</a:t>
            </a:r>
            <a:br/>
            <a:r>
              <a:t>  Converts character indices to 128-dimensional dense vectors.</a:t>
            </a:r>
            <a:br/>
            <a:br/>
            <a:r>
              <a:t>• Stacked LSTM:</a:t>
            </a:r>
            <a:br/>
            <a:r>
              <a:t>  2 layers with 256 memory units, using 0.2 Dropout to prevent overfitting.</a:t>
            </a:r>
            <a:br/>
            <a:br/>
            <a:r>
              <a:t>• Linear Decoder:</a:t>
            </a:r>
            <a:br/>
            <a:r>
              <a:t>  Maps 256 hidden features to vocabulary logits.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BBF24"/>
                </a:solidFill>
                <a:latin typeface="Georgia"/>
              </a:defRPr>
            </a:pPr>
            <a:r>
              <a:t>Data Pipeline &amp; Corpuses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B4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2103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B473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0020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  <a:defRPr sz="1600" b="1" i="0">
                <a:solidFill>
                  <a:srgbClr val="FBBF24"/>
                </a:solidFill>
                <a:latin typeface="Georgia"/>
              </a:defRPr>
            </a:pPr>
            <a:r>
              <a:t>Shakespeare plays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• Dramatic old English vocabulary, poetic structures.</a:t>
            </a:r>
            <a:br/>
            <a:r>
              <a:t>• Compact vocabulary of 37 unique characters.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39535" y="1463040"/>
            <a:ext cx="5120640" cy="210312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B473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68135" y="160020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  <a:defRPr sz="1600" b="1" i="0">
                <a:solidFill>
                  <a:srgbClr val="FBBF24"/>
                </a:solidFill>
                <a:latin typeface="Georgia"/>
              </a:defRPr>
            </a:pPr>
            <a:r>
              <a:t>Sherlock Holmes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• 19th-century detective stories, structured narrative prose.</a:t>
            </a:r>
            <a:br/>
            <a:r>
              <a:t>• Larger vocabulary of 57 unique characters.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10728655" cy="219456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977639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600" b="1" i="0">
                <a:solidFill>
                  <a:srgbClr val="FBBF24"/>
                </a:solidFill>
                <a:latin typeface="Georgia"/>
              </a:defRPr>
            </a:pPr>
            <a:r>
              <a:t>Preprocessing Pipeline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• Lowercase Conversion: Keeps the vocabulary size compact for faster convergence.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9535" y="3977639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600" b="1" i="0">
                <a:solidFill>
                  <a:srgbClr val="FBBF24"/>
                </a:solidFill>
                <a:latin typeface="Georgia"/>
              </a:defRPr>
            </a:pPr>
            <a:r>
              <a:t>Input-Target Slicing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• Slices raw text into overlapping input sequences of length T = 100 characters. Target sequences are shifted by one character.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BBF24"/>
                </a:solidFill>
                <a:latin typeface="Georgia"/>
              </a:defRPr>
            </a:pPr>
            <a:r>
              <a:t>Decoding and Sampling Techniques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B4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114800" cy="457200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800" b="1" i="0">
                <a:solidFill>
                  <a:srgbClr val="FBBF24"/>
                </a:solidFill>
                <a:latin typeface="Georgia"/>
              </a:defRPr>
            </a:pPr>
            <a:r>
              <a:t>Decoding Overview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• Greedy Decoding (T = 0):</a:t>
            </a:r>
            <a:br/>
            <a:r>
              <a:t>  - Always selects the character with the absolute highest probability.</a:t>
            </a:r>
            <a:br/>
            <a:r>
              <a:t>  - Very deterministic, but highly prone to getting stuck in infinite repeating loops.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• Temperature Sampling (T &gt; 0):</a:t>
            </a:r>
            <a:br/>
            <a:r>
              <a:t>  - Scales the logits by dividing them by T before applying Softmax to control randomness.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1463040"/>
            <a:ext cx="6339535" cy="128016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49240" y="1600200"/>
            <a:ext cx="58823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  <a:defRPr sz="1400" b="1" i="0">
                <a:solidFill>
                  <a:srgbClr val="FFFFFF"/>
                </a:solidFill>
                <a:latin typeface="Georgia"/>
              </a:defRPr>
            </a:pPr>
            <a:r>
              <a:t>Low Temperature (T = 0.2)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 b="0" i="0">
                <a:solidFill>
                  <a:srgbClr val="D1D5DB"/>
                </a:solidFill>
                <a:latin typeface="Calibri"/>
              </a:defRPr>
            </a:pPr>
            <a:r>
              <a:t>• Highly conservative, repetitive, and safe output. Vocabulary remains narrow.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3108960"/>
            <a:ext cx="6339535" cy="128016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B473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49240" y="3246120"/>
            <a:ext cx="58823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  <a:defRPr sz="1400" b="1" i="0">
                <a:solidFill>
                  <a:srgbClr val="FBBF24"/>
                </a:solidFill>
                <a:latin typeface="Georgia"/>
              </a:defRPr>
            </a:pPr>
            <a:r>
              <a:t>Balanced Temperature (T = 0.6) — Recommended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 b="0" i="0">
                <a:solidFill>
                  <a:srgbClr val="D1D5DB"/>
                </a:solidFill>
                <a:latin typeface="Calibri"/>
              </a:defRPr>
            </a:pPr>
            <a:r>
              <a:t>• High quality output: creative and styled language with correct spelling.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4754880"/>
            <a:ext cx="6339535" cy="128016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4892040"/>
            <a:ext cx="58823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  <a:defRPr sz="1400" b="1" i="0">
                <a:solidFill>
                  <a:srgbClr val="FFFFFF"/>
                </a:solidFill>
                <a:latin typeface="Georgia"/>
              </a:defRPr>
            </a:pPr>
            <a:r>
              <a:t>High Temperature (T = 1.5)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 b="0" i="0">
                <a:solidFill>
                  <a:srgbClr val="D1D5DB"/>
                </a:solidFill>
                <a:latin typeface="Calibri"/>
              </a:defRPr>
            </a:pPr>
            <a:r>
              <a:t>• Complete chaos. Grammatical structure collapses and words disintegrate into random gibberish.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BBF24"/>
                </a:solidFill>
                <a:latin typeface="Georgia"/>
              </a:defRPr>
            </a:pPr>
            <a:r>
              <a:t>Task 1: Training Loss &amp; Text Samples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B4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754880" cy="457200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 i="0">
                <a:solidFill>
                  <a:srgbClr val="FBBF24"/>
                </a:solidFill>
                <a:latin typeface="Georgia"/>
              </a:defRPr>
            </a:pPr>
            <a:r>
              <a:t>Empirical Findings &amp; Text Samples</a:t>
            </a:r>
          </a:p>
          <a:p>
            <a:pPr>
              <a:lnSpc>
                <a:spcPct val="115000"/>
              </a:lnSpc>
              <a:spcAft>
                <a:spcPts val="200"/>
              </a:spcAft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• Loss Convergence: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200" b="0" i="0">
                <a:solidFill>
                  <a:srgbClr val="D1D5DB"/>
                </a:solidFill>
                <a:latin typeface="Calibri"/>
              </a:defRPr>
            </a:pPr>
            <a:r>
              <a:t>  - Shakespeare Model: final loss of 0.9955 (8 epochs).</a:t>
            </a:r>
            <a:br/>
            <a:r>
              <a:t>  - Sherlock Model: final loss of 1.1377.</a:t>
            </a:r>
          </a:p>
          <a:p>
            <a:pPr>
              <a:lnSpc>
                <a:spcPct val="115000"/>
              </a:lnSpc>
              <a:spcAft>
                <a:spcPts val="200"/>
              </a:spcAft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• Generated Samples (Prompt: "the secret of ")</a:t>
            </a:r>
          </a:p>
          <a:p>
            <a:pPr>
              <a:lnSpc>
                <a:spcPct val="115000"/>
              </a:lnSpc>
              <a:spcAft>
                <a:spcPts val="200"/>
              </a:spcAft>
              <a:defRPr sz="1200" b="1" i="0">
                <a:solidFill>
                  <a:srgbClr val="FBBF24"/>
                </a:solidFill>
                <a:latin typeface="Calibri"/>
              </a:defRPr>
            </a:pPr>
            <a:r>
              <a:t>  - Shakespeare (T=0.6):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100" b="0" i="1">
                <a:solidFill>
                  <a:srgbClr val="D1D5DB"/>
                </a:solidFill>
                <a:latin typeface="Calibri"/>
              </a:defRPr>
            </a:pPr>
            <a:r>
              <a:t>    "the secret of this too, well of parish that's worth's voice..."</a:t>
            </a:r>
          </a:p>
          <a:p>
            <a:pPr>
              <a:lnSpc>
                <a:spcPct val="115000"/>
              </a:lnSpc>
              <a:spcAft>
                <a:spcPts val="200"/>
              </a:spcAft>
              <a:defRPr sz="1200" b="1" i="0">
                <a:solidFill>
                  <a:srgbClr val="FBBF24"/>
                </a:solidFill>
                <a:latin typeface="Calibri"/>
              </a:defRPr>
            </a:pPr>
            <a:r>
              <a:t>  - Sherlock Holmes (T=0.6):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100" b="0" i="1">
                <a:solidFill>
                  <a:srgbClr val="D1D5DB"/>
                </a:solidFill>
                <a:latin typeface="Calibri"/>
              </a:defRPr>
            </a:pPr>
            <a:r>
              <a:t>    "the secret of home upon his waiting. he woild dost the band..."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463040"/>
            <a:ext cx="5608015" cy="457200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B473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sk1_lstm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242255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BBF24"/>
                </a:solidFill>
                <a:latin typeface="Georgia"/>
              </a:defRPr>
            </a:pPr>
            <a:r>
              <a:t>Task 2: Batch Norm vs. No Batch Norm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B4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728655" cy="457200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B473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69164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800" b="1" i="0">
                <a:solidFill>
                  <a:srgbClr val="FBBF24"/>
                </a:solidFill>
                <a:latin typeface="Georgia"/>
              </a:defRPr>
            </a:pPr>
            <a:r>
              <a:t>Project Objective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400" b="0" i="0">
                <a:solidFill>
                  <a:srgbClr val="D1D5DB"/>
                </a:solidFill>
                <a:latin typeface="Calibri"/>
              </a:defRPr>
            </a:pPr>
            <a:r>
              <a:t>• Train and compare deep feedforward neural networks (6 layers) with and without Batch Normalization on the MNIST dataset.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 b="0" i="0">
                <a:solidFill>
                  <a:srgbClr val="D1D5DB"/>
                </a:solidFill>
                <a:latin typeface="Calibri"/>
              </a:defRPr>
            </a:pPr>
            <a:r>
              <a:t>• Systematically evaluate convergence speed, final test accuracy, and stability under different optimization stress-tests.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9535" y="169164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800" b="1" i="0">
                <a:solidFill>
                  <a:srgbClr val="FBBF24"/>
                </a:solidFill>
                <a:latin typeface="Georgia"/>
              </a:defRPr>
            </a:pPr>
            <a:r>
              <a:t>Core Challenges in Deep Networks</a:t>
            </a:r>
          </a:p>
          <a:p>
            <a:pPr>
              <a:lnSpc>
                <a:spcPct val="115000"/>
              </a:lnSpc>
              <a:spcAft>
                <a:spcPts val="200"/>
              </a:spcAft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• Internal Covariate Shift: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  - Activation distributions shift continuously as weights update during training, slowing down training and forcing small learning rates.</a:t>
            </a:r>
          </a:p>
          <a:p>
            <a:pPr>
              <a:lnSpc>
                <a:spcPct val="115000"/>
              </a:lnSpc>
              <a:spcAft>
                <a:spcPts val="200"/>
              </a:spcAft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• Vanishing/Exploding Gradients: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  - Signals vanish or blow up as they propagate through deep layers, stopping learning or causing divergence.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BBF24"/>
                </a:solidFill>
                <a:latin typeface="Georgia"/>
              </a:defRPr>
            </a:pPr>
            <a:r>
              <a:t>Deep MLP Architecture and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B4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457200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600" b="1" i="0">
                <a:solidFill>
                  <a:srgbClr val="FBBF24"/>
                </a:solidFill>
                <a:latin typeface="Georgia"/>
              </a:defRPr>
            </a:pPr>
            <a:r>
              <a:t>Dataset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• MNIST Digits Classification:</a:t>
            </a:r>
            <a:br/>
            <a:r>
              <a:t>  Grayscale 28x28 handwritten digit images.</a:t>
            </a:r>
            <a:br/>
            <a:br/>
            <a:r>
              <a:t>• Splits:</a:t>
            </a:r>
            <a:br/>
            <a:r>
              <a:t>  60,000 training samples and 10,000 testing samples, divided into 10 class categories.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3750" y="1463040"/>
            <a:ext cx="3383280" cy="457200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B473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86630" y="164592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600" b="1" i="0">
                <a:solidFill>
                  <a:srgbClr val="FBBF24"/>
                </a:solidFill>
                <a:latin typeface="Georgia"/>
              </a:defRPr>
            </a:pPr>
            <a:r>
              <a:t>Configuration (6 Layers)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• Input Layer:</a:t>
            </a:r>
            <a:br/>
            <a:r>
              <a:t>  784 nodes (flattened 28x28 pixels).</a:t>
            </a:r>
            <a:br/>
            <a:br/>
            <a:r>
              <a:t>• Hidden Layers:</a:t>
            </a:r>
            <a:br/>
            <a:r>
              <a:t>  5 layers with 512 nodes each.</a:t>
            </a:r>
            <a:br/>
            <a:br/>
            <a:r>
              <a:t>• Output Layer:</a:t>
            </a:r>
            <a:br/>
            <a:r>
              <a:t>  10 nodes (digit category scores).</a:t>
            </a:r>
            <a:br/>
            <a:br/>
            <a:r>
              <a:t>• Activation:</a:t>
            </a:r>
            <a:br/>
            <a:r>
              <a:t>  ReLU in all hidden layers.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76895" y="1463040"/>
            <a:ext cx="3383280" cy="457200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9775" y="1645920"/>
            <a:ext cx="3017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600" b="1" i="0">
                <a:solidFill>
                  <a:srgbClr val="FBBF24"/>
                </a:solidFill>
                <a:latin typeface="Georgia"/>
              </a:defRPr>
            </a:pPr>
            <a:r>
              <a:t>Tested Setups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• Setup A (Baseline):</a:t>
            </a:r>
            <a:br/>
            <a:r>
              <a:t>  Standard MLP with Linear -&gt; ReLU layers. No batch normalization.</a:t>
            </a:r>
            <a:br/>
            <a:br/>
            <a:r>
              <a:t>• Setup B (Batch Norm):</a:t>
            </a:r>
            <a:br/>
            <a:r>
              <a:t>  Normalized MLP with Linear -&gt; BatchNorm1d -&gt; ReLU layers.</a:t>
            </a:r>
            <a:br/>
            <a:br/>
            <a:r>
              <a:t>• Optimization:</a:t>
            </a:r>
            <a:br/>
            <a:r>
              <a:t>  Mini-batch SGD with batch size = 64.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BBF24"/>
                </a:solidFill>
                <a:latin typeface="Georgia"/>
              </a:defRPr>
            </a:pPr>
            <a:r>
              <a:t>Experiment 1: Standard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B4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754880" cy="457200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800" b="1" i="0">
                <a:solidFill>
                  <a:srgbClr val="FBBF24"/>
                </a:solidFill>
                <a:latin typeface="Georgia"/>
              </a:defRPr>
            </a:pPr>
            <a:r>
              <a:t>Standard SGD Training</a:t>
            </a:r>
          </a:p>
          <a:p>
            <a:pPr>
              <a:lnSpc>
                <a:spcPct val="115000"/>
              </a:lnSpc>
              <a:spcAft>
                <a:spcPts val="200"/>
              </a:spcAft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• Hyperparameters: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  - Learning rate = 0.01, standard initialization, trained for 5 epochs.</a:t>
            </a:r>
          </a:p>
          <a:p>
            <a:pPr>
              <a:lnSpc>
                <a:spcPct val="115000"/>
              </a:lnSpc>
              <a:spcAft>
                <a:spcPts val="200"/>
              </a:spcAft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• Observations: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  - With Batch Norm: Converges rapidly, reaching 97.10% test accuracy.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  - No Batch Norm: Converges slowly, reaching 92.83% test accuracy.</a:t>
            </a:r>
          </a:p>
          <a:p>
            <a:pPr>
              <a:lnSpc>
                <a:spcPct val="115000"/>
              </a:lnSpc>
              <a:spcAft>
                <a:spcPts val="200"/>
              </a:spcAft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• Key Takeaway: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  - Batch Norm acts as an optimization accelerator, helping the model reach higher accuracy in fewer epochs.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463040"/>
            <a:ext cx="5608015" cy="457200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B473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sk2_exp1_stand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242255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BBF24"/>
                </a:solidFill>
                <a:latin typeface="Georgia"/>
              </a:defRPr>
            </a:pPr>
            <a:r>
              <a:t>Experiment 2: High Learning Rate Stress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B4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608015" cy="457200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B473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ask2_exp2_high_l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5242255" cy="4206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705295" y="1463040"/>
            <a:ext cx="4754880" cy="457200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3895" y="16916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800" b="1" i="0">
                <a:solidFill>
                  <a:srgbClr val="FBBF24"/>
                </a:solidFill>
                <a:latin typeface="Georgia"/>
              </a:defRPr>
            </a:pPr>
            <a:r>
              <a:t>High Learning Rate Stress Test</a:t>
            </a:r>
          </a:p>
          <a:p>
            <a:pPr>
              <a:lnSpc>
                <a:spcPct val="115000"/>
              </a:lnSpc>
              <a:spcAft>
                <a:spcPts val="200"/>
              </a:spcAft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• Hyperparameters: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  - Learning rate = 0.2 (extremely aggressive), trained for 5 epochs.</a:t>
            </a:r>
          </a:p>
          <a:p>
            <a:pPr>
              <a:lnSpc>
                <a:spcPct val="115000"/>
              </a:lnSpc>
              <a:spcAft>
                <a:spcPts val="200"/>
              </a:spcAft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• Observations: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  - With Batch Norm: Extremely stable training, reaching 98.24% test accuracy (best overall score).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  - No Batch Norm: Fails completely. Weights explode, loss flatlines at 2.3026, and accuracy stays stuck at 11.35% (random guessing).</a:t>
            </a:r>
          </a:p>
          <a:p>
            <a:pPr>
              <a:lnSpc>
                <a:spcPct val="115000"/>
              </a:lnSpc>
              <a:spcAft>
                <a:spcPts val="200"/>
              </a:spcAft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• Key Takeaway: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  - Batch Norm scale-invariance stabilizes gradient updates, allowing the network to train under massive learning rates.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BBF24"/>
                </a:solidFill>
                <a:latin typeface="Georgia"/>
              </a:defRPr>
            </a:pPr>
            <a:r>
              <a:t>Experiment 3: Poor Initialization Stress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B4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754880" cy="457200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800" b="1" i="0">
                <a:solidFill>
                  <a:srgbClr val="FBBF24"/>
                </a:solidFill>
                <a:latin typeface="Georgia"/>
              </a:defRPr>
            </a:pPr>
            <a:r>
              <a:t>Suboptimal Initialization scale</a:t>
            </a:r>
          </a:p>
          <a:p>
            <a:pPr>
              <a:lnSpc>
                <a:spcPct val="115000"/>
              </a:lnSpc>
              <a:spcAft>
                <a:spcPts val="200"/>
              </a:spcAft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• Hyperparameters: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  - Learning rate = 0.01, weights initialized scaled to near-zero (stddev = 0.001), 5 epochs.</a:t>
            </a:r>
          </a:p>
          <a:p>
            <a:pPr>
              <a:lnSpc>
                <a:spcPct val="115000"/>
              </a:lnSpc>
              <a:spcAft>
                <a:spcPts val="200"/>
              </a:spcAft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• Observations:</a:t>
            </a:r>
          </a:p>
          <a:p>
            <a:pPr>
              <a:lnSpc>
                <a:spcPct val="115000"/>
              </a:lnSpc>
              <a:spcAft>
                <a:spcPts val="4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  - With Batch Norm: Successfully rescales weak signals, training to 97.48% test accuracy.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  - No Batch Norm: Fails completely. Signal vanishes through 6 layers; loss stays at 2.3026, test accuracy stuck at 11.35% (vanishing gradients).</a:t>
            </a:r>
          </a:p>
          <a:p>
            <a:pPr>
              <a:lnSpc>
                <a:spcPct val="115000"/>
              </a:lnSpc>
              <a:spcAft>
                <a:spcPts val="200"/>
              </a:spcAft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• Key Takeaway: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  - Batch Norm rescales the activations at each layer, maintaining gradient magnitude and preventing vanishing gradients.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463040"/>
            <a:ext cx="5608015" cy="457200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B473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sk2_exp3_poor_i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242255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BBF24"/>
                </a:solidFill>
                <a:latin typeface="Georgia"/>
              </a:defRPr>
            </a:pPr>
            <a:r>
              <a:t>How Batch Normalization Stabilizes Gradients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B4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B473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800" b="1" i="0">
                <a:solidFill>
                  <a:srgbClr val="FBBF24"/>
                </a:solidFill>
                <a:latin typeface="Georgia"/>
              </a:defRPr>
            </a:pPr>
            <a:r>
              <a:t>Feedforward Normalization Equations</a:t>
            </a:r>
          </a:p>
          <a:p>
            <a:pPr>
              <a:lnSpc>
                <a:spcPct val="115000"/>
              </a:lnSpc>
              <a:spcAft>
                <a:spcPts val="200"/>
              </a:spcAft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• Step 1: Mini-batch Mean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1" i="0">
                <a:solidFill>
                  <a:srgbClr val="FBBF24"/>
                </a:solidFill>
                <a:latin typeface="Georgia"/>
              </a:defRPr>
            </a:pPr>
            <a:r>
              <a:t>     μ_B = (1/m) * Σᵢ₌₁ᵐ xᵢ</a:t>
            </a:r>
          </a:p>
          <a:p>
            <a:pPr>
              <a:lnSpc>
                <a:spcPct val="115000"/>
              </a:lnSpc>
              <a:spcAft>
                <a:spcPts val="200"/>
              </a:spcAft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• Step 2: Mini-batch Variance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1" i="0">
                <a:solidFill>
                  <a:srgbClr val="FBBF24"/>
                </a:solidFill>
                <a:latin typeface="Georgia"/>
              </a:defRPr>
            </a:pPr>
            <a:r>
              <a:t>     σ_B² = (1/m) * Σᵢ₌₁ᵐ (xᵢ - μ_B)²</a:t>
            </a:r>
          </a:p>
          <a:p>
            <a:pPr>
              <a:lnSpc>
                <a:spcPct val="115000"/>
              </a:lnSpc>
              <a:spcAft>
                <a:spcPts val="200"/>
              </a:spcAft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• Step 3: Normalize Activation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1" i="0">
                <a:solidFill>
                  <a:srgbClr val="FBBF24"/>
                </a:solidFill>
                <a:latin typeface="Georgia"/>
              </a:defRPr>
            </a:pPr>
            <a:r>
              <a:t>     x̂ᵢ = (xᵢ - μ_B) / √(σ_B² + ε)</a:t>
            </a:r>
          </a:p>
          <a:p>
            <a:pPr>
              <a:lnSpc>
                <a:spcPct val="115000"/>
              </a:lnSpc>
              <a:spcAft>
                <a:spcPts val="200"/>
              </a:spcAft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• Step 4: Scale and Shift (Learnable)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2000" b="1" i="0">
                <a:solidFill>
                  <a:srgbClr val="FBBF24"/>
                </a:solidFill>
                <a:latin typeface="Georgia"/>
              </a:defRPr>
            </a:pPr>
            <a:r>
              <a:t>     yᵢ = γ * x̂ᵢ + 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39535" y="1463040"/>
            <a:ext cx="5120640" cy="457200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68135" y="169164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800" b="1" i="0">
                <a:solidFill>
                  <a:srgbClr val="FBBF24"/>
                </a:solidFill>
                <a:latin typeface="Georgia"/>
              </a:defRPr>
            </a:pPr>
            <a:r>
              <a:t>Scale Invariance Intuition</a:t>
            </a:r>
          </a:p>
          <a:p>
            <a:pPr>
              <a:lnSpc>
                <a:spcPct val="115000"/>
              </a:lnSpc>
              <a:spcAft>
                <a:spcPts val="200"/>
              </a:spcAft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• Mathematical Scale Invariance: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  - Because we divide by the standard deviation, scaling the weights by any factor does not change the output of the normalization layer. This stabilizes gradient flow.</a:t>
            </a:r>
          </a:p>
          <a:p>
            <a:pPr>
              <a:lnSpc>
                <a:spcPct val="115000"/>
              </a:lnSpc>
              <a:spcAft>
                <a:spcPts val="200"/>
              </a:spcAft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• Preserving Representation Capacity (γ and β):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  - Learnable scale (γ) and shift (β) parameters let the network restore the original distribution if it is optimal for learning.</a:t>
            </a:r>
          </a:p>
          <a:p>
            <a:pPr>
              <a:lnSpc>
                <a:spcPct val="115000"/>
              </a:lnSpc>
              <a:spcAft>
                <a:spcPts val="200"/>
              </a:spcAft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• Smoother Loss Landscape: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  - Standardizing intermediate layers prevents extreme gradient fluctuations, leading to a much smoother optimization path.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BBF24"/>
                </a:solidFill>
                <a:latin typeface="Georgia"/>
              </a:defRPr>
            </a:pPr>
            <a:r>
              <a:t>Summary of Empirical Findings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B4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645920"/>
          <a:ext cx="944849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645920"/>
                <a:gridCol w="2286000"/>
                <a:gridCol w="2316175"/>
              </a:tblGrid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  <a:defRPr sz="1500" b="1" i="0">
                          <a:solidFill>
                            <a:srgbClr val="FFFFFF"/>
                          </a:solidFill>
                          <a:latin typeface="Georgia"/>
                        </a:defRPr>
                      </a:pPr>
                      <a:r>
                        <a:t>Experiment</a:t>
                      </a:r>
                    </a:p>
                  </a:txBody>
                  <a:tcPr anchor="ctr">
                    <a:solidFill>
                      <a:srgbClr val="B473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  <a:defRPr sz="1500" b="1" i="0">
                          <a:solidFill>
                            <a:srgbClr val="FFFFFF"/>
                          </a:solidFill>
                          <a:latin typeface="Georgia"/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B473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  <a:defRPr sz="1500" b="1" i="0">
                          <a:solidFill>
                            <a:srgbClr val="FFFFFF"/>
                          </a:solidFill>
                          <a:latin typeface="Georgia"/>
                        </a:defRPr>
                      </a:pPr>
                      <a:r>
                        <a:t>No Batch Norm (Baseline)</a:t>
                      </a:r>
                    </a:p>
                  </a:txBody>
                  <a:tcPr anchor="ctr">
                    <a:solidFill>
                      <a:srgbClr val="B473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  <a:defRPr sz="1500" b="1" i="0">
                          <a:solidFill>
                            <a:srgbClr val="FFFFFF"/>
                          </a:solidFill>
                          <a:latin typeface="Georgia"/>
                        </a:defRPr>
                      </a:pPr>
                      <a:r>
                        <a:t>With Batch Norm</a:t>
                      </a:r>
                    </a:p>
                  </a:txBody>
                  <a:tcPr anchor="ctr">
                    <a:solidFill>
                      <a:srgbClr val="B4731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  <a:defRPr sz="1400" b="0" i="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Standard Training (LR=0.01)</a:t>
                      </a:r>
                    </a:p>
                  </a:txBody>
                  <a:tcPr anchor="ctr">
                    <a:solidFill>
                      <a:srgbClr val="1A20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  <a:defRPr sz="1400" b="0" i="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Test Accuracy</a:t>
                      </a:r>
                    </a:p>
                  </a:txBody>
                  <a:tcPr anchor="ctr">
                    <a:solidFill>
                      <a:srgbClr val="1A20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  <a:defRPr sz="1400" b="0" i="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92.83%</a:t>
                      </a:r>
                    </a:p>
                  </a:txBody>
                  <a:tcPr anchor="ctr">
                    <a:solidFill>
                      <a:srgbClr val="1A20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  <a:defRPr sz="1400" b="1" i="0">
                          <a:solidFill>
                            <a:srgbClr val="FBBF24"/>
                          </a:solidFill>
                          <a:latin typeface="Calibri"/>
                        </a:defRPr>
                      </a:pPr>
                      <a:r>
                        <a:t>97.10% (Trained)</a:t>
                      </a:r>
                    </a:p>
                  </a:txBody>
                  <a:tcPr anchor="ctr">
                    <a:solidFill>
                      <a:srgbClr val="1A202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  <a:defRPr sz="1400" b="0" i="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High Learning Rate Stress Test (LR=0.2)</a:t>
                      </a:r>
                    </a:p>
                  </a:txBody>
                  <a:tcPr anchor="ctr">
                    <a:solidFill>
                      <a:srgbClr val="10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  <a:defRPr sz="1400" b="0" i="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Test Accuracy</a:t>
                      </a:r>
                    </a:p>
                  </a:txBody>
                  <a:tcPr anchor="ctr">
                    <a:solidFill>
                      <a:srgbClr val="10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  <a:defRPr sz="1400" b="0" i="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11.35% (Diverged)</a:t>
                      </a:r>
                    </a:p>
                  </a:txBody>
                  <a:tcPr anchor="ctr">
                    <a:solidFill>
                      <a:srgbClr val="10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  <a:defRPr sz="1400" b="1" i="0">
                          <a:solidFill>
                            <a:srgbClr val="FBBF24"/>
                          </a:solidFill>
                          <a:latin typeface="Calibri"/>
                        </a:defRPr>
                      </a:pPr>
                      <a:r>
                        <a:t>98.24% (Trained)</a:t>
                      </a:r>
                    </a:p>
                  </a:txBody>
                  <a:tcPr anchor="ctr">
                    <a:solidFill>
                      <a:srgbClr val="10162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  <a:defRPr sz="1400" b="0" i="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Suboptimal Initialization (σ=0.001)</a:t>
                      </a:r>
                    </a:p>
                  </a:txBody>
                  <a:tcPr anchor="ctr">
                    <a:solidFill>
                      <a:srgbClr val="1A20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  <a:defRPr sz="1400" b="0" i="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Test Accuracy</a:t>
                      </a:r>
                    </a:p>
                  </a:txBody>
                  <a:tcPr anchor="ctr">
                    <a:solidFill>
                      <a:srgbClr val="1A20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  <a:defRPr sz="1400" b="0" i="0">
                          <a:solidFill>
                            <a:srgbClr val="D1D5DB"/>
                          </a:solidFill>
                          <a:latin typeface="Calibri"/>
                        </a:defRPr>
                      </a:pPr>
                      <a:r>
                        <a:t>11.35% (Vanished)</a:t>
                      </a:r>
                    </a:p>
                  </a:txBody>
                  <a:tcPr anchor="ctr">
                    <a:solidFill>
                      <a:srgbClr val="1A20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spcAft>
                          <a:spcPts val="0"/>
                        </a:spcAft>
                        <a:defRPr sz="1400" b="1" i="0">
                          <a:solidFill>
                            <a:srgbClr val="FBBF24"/>
                          </a:solidFill>
                          <a:latin typeface="Calibri"/>
                        </a:defRPr>
                      </a:pPr>
                      <a:r>
                        <a:t>97.48% (Trained)</a:t>
                      </a:r>
                    </a:p>
                  </a:txBody>
                  <a:tcPr anchor="ctr">
                    <a:solidFill>
                      <a:srgbClr val="1A202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4846320"/>
            <a:ext cx="94484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  <a:defRPr sz="1600" b="1" i="0">
                <a:solidFill>
                  <a:srgbClr val="FBBF24"/>
                </a:solidFill>
                <a:latin typeface="Georgia"/>
              </a:defRPr>
            </a:pPr>
            <a:r>
              <a:t>Key Empirical Findings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• Batch Normalization consistently out-performs the baseline in standard settings and successfully rescues the network from extreme training failures (learning rate explosion and weight initialization vanishing).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BBF24"/>
                </a:solidFill>
                <a:latin typeface="Georgia"/>
              </a:defRPr>
            </a:pPr>
            <a:r>
              <a:t>Connections to Deep Learning Theory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B4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728655" cy="128016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554480"/>
            <a:ext cx="102714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  <a:defRPr sz="1400" b="1" i="0">
                <a:solidFill>
                  <a:srgbClr val="FBBF24"/>
                </a:solidFill>
                <a:latin typeface="Georgia"/>
              </a:defRPr>
            </a:pPr>
            <a:r>
              <a:t>• Representation Learning: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  Character-level LSTMs automatically discover complex spelling, grammar, and language patterns directly from raw sequences without manual, hard-coded rules.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10728655" cy="128016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B473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2714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  <a:defRPr sz="1400" b="1" i="0">
                <a:solidFill>
                  <a:srgbClr val="FBBF24"/>
                </a:solidFill>
                <a:latin typeface="Georgia"/>
              </a:defRPr>
            </a:pPr>
            <a:r>
              <a:t>• Weight Initialization Dynamics: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  Kaiming initialization works well under normal conditions, but is highly sensitive to depth. Batch Norm relaxes this scale dependency by dynamically adjusting variance.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89120"/>
            <a:ext cx="10728655" cy="128016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480560"/>
            <a:ext cx="102714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  <a:defRPr sz="1400" b="1" i="0">
                <a:solidFill>
                  <a:srgbClr val="FBBF24"/>
                </a:solidFill>
                <a:latin typeface="Georgia"/>
              </a:defRPr>
            </a:pPr>
            <a:r>
              <a:t>• Optimization landscapes: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  Deep backpropagation requires gradient stability. Batch Norm smoothens the loss landscape, preventing gradient explosion and allowing for higher learning rates.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FBBF24"/>
                </a:solidFill>
                <a:latin typeface="Georgia"/>
              </a:defRPr>
            </a:pPr>
            <a:r>
              <a:t>Conclusion and 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18288"/>
          </a:xfrm>
          <a:prstGeom prst="rect">
            <a:avLst/>
          </a:prstGeom>
          <a:solidFill>
            <a:srgbClr val="B4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2832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800" b="1" i="0">
                <a:solidFill>
                  <a:srgbClr val="FBBF24"/>
                </a:solidFill>
                <a:latin typeface="Georgia"/>
              </a:defRPr>
            </a:pPr>
            <a:r>
              <a:t>Key Summary Takeaways</a:t>
            </a:r>
          </a:p>
          <a:p>
            <a:pPr>
              <a:lnSpc>
                <a:spcPct val="115000"/>
              </a:lnSpc>
              <a:spcAft>
                <a:spcPts val="200"/>
              </a:spcAft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• Task 1 Sequence Modeling:</a:t>
            </a:r>
          </a:p>
          <a:p>
            <a:pPr>
              <a:lnSpc>
                <a:spcPct val="115000"/>
              </a:lnSpc>
              <a:spcAft>
                <a:spcPts val="16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  - Character-level LSTMs successfully capture the structural, orthographical, and grammatical nuances of different corpuses.</a:t>
            </a:r>
          </a:p>
          <a:p>
            <a:pPr>
              <a:lnSpc>
                <a:spcPct val="115000"/>
              </a:lnSpc>
              <a:spcAft>
                <a:spcPts val="200"/>
              </a:spcAft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• Task 2 Normalization: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300" b="0" i="0">
                <a:solidFill>
                  <a:srgbClr val="D1D5DB"/>
                </a:solidFill>
                <a:latin typeface="Calibri"/>
              </a:defRPr>
            </a:pPr>
            <a:r>
              <a:t>  - Batch Normalization is a critical architectural component for deep networks, providing optimization speedup and stability under stress.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39535" y="1463040"/>
            <a:ext cx="5120640" cy="4572000"/>
          </a:xfrm>
          <a:prstGeom prst="roundRect">
            <a:avLst/>
          </a:prstGeom>
          <a:solidFill>
            <a:srgbClr val="141B2D"/>
          </a:solidFill>
          <a:ln w="19050">
            <a:solidFill>
              <a:srgbClr val="B473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68135" y="169164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2200" b="1" i="0">
                <a:solidFill>
                  <a:srgbClr val="FBBF24"/>
                </a:solidFill>
                <a:latin typeface="Georgia"/>
              </a:defRPr>
            </a:pPr>
            <a:r>
              <a:t>Thank you! Questions?</a:t>
            </a:r>
          </a:p>
          <a:p>
            <a:pPr>
              <a:lnSpc>
                <a:spcPct val="115000"/>
              </a:lnSpc>
              <a:spcAft>
                <a:spcPts val="1400"/>
              </a:spcAft>
              <a:defRPr sz="1400" b="0" i="1">
                <a:solidFill>
                  <a:srgbClr val="FFFFFF"/>
                </a:solidFill>
                <a:latin typeface="Calibri"/>
              </a:defRPr>
            </a:pPr>
            <a:r>
              <a:t>We are ready for your questions, Sir.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Presenters Panel (Group 3):</a:t>
            </a:r>
          </a:p>
          <a:p>
            <a:pPr>
              <a:lnSpc>
                <a:spcPct val="115000"/>
              </a:lnSpc>
              <a:spcAft>
                <a:spcPts val="300"/>
              </a:spcAft>
              <a:defRPr sz="1200" b="0" i="0">
                <a:solidFill>
                  <a:srgbClr val="D1D5DB"/>
                </a:solidFill>
                <a:latin typeface="Calibri"/>
              </a:defRPr>
            </a:pPr>
            <a:r>
              <a:t>  • MD Kaif Molla</a:t>
            </a:r>
          </a:p>
          <a:p>
            <a:pPr>
              <a:lnSpc>
                <a:spcPct val="115000"/>
              </a:lnSpc>
              <a:spcAft>
                <a:spcPts val="300"/>
              </a:spcAft>
              <a:defRPr sz="1200" b="0" i="0">
                <a:solidFill>
                  <a:srgbClr val="D1D5DB"/>
                </a:solidFill>
                <a:latin typeface="Calibri"/>
              </a:defRPr>
            </a:pPr>
            <a:r>
              <a:t>  • Arhan Das</a:t>
            </a:r>
          </a:p>
          <a:p>
            <a:pPr>
              <a:lnSpc>
                <a:spcPct val="115000"/>
              </a:lnSpc>
              <a:spcAft>
                <a:spcPts val="300"/>
              </a:spcAft>
              <a:defRPr sz="1200" b="0" i="0">
                <a:solidFill>
                  <a:srgbClr val="D1D5DB"/>
                </a:solidFill>
                <a:latin typeface="Calibri"/>
              </a:defRPr>
            </a:pPr>
            <a:r>
              <a:t>  • Sumit Akhuli</a:t>
            </a:r>
          </a:p>
          <a:p>
            <a:pPr>
              <a:lnSpc>
                <a:spcPct val="115000"/>
              </a:lnSpc>
              <a:spcAft>
                <a:spcPts val="300"/>
              </a:spcAft>
              <a:defRPr sz="1200" b="0" i="0">
                <a:solidFill>
                  <a:srgbClr val="D1D5DB"/>
                </a:solidFill>
                <a:latin typeface="Calibri"/>
              </a:defRPr>
            </a:pPr>
            <a:r>
              <a:t>  • Shiva Gupta</a:t>
            </a:r>
          </a:p>
          <a:p>
            <a:pPr>
              <a:lnSpc>
                <a:spcPct val="115000"/>
              </a:lnSpc>
              <a:spcAft>
                <a:spcPts val="300"/>
              </a:spcAft>
              <a:defRPr sz="1200" b="0" i="0">
                <a:solidFill>
                  <a:srgbClr val="D1D5DB"/>
                </a:solidFill>
                <a:latin typeface="Calibri"/>
              </a:defRPr>
            </a:pPr>
            <a:r>
              <a:t>  • Sarthak Mishra</a:t>
            </a:r>
          </a:p>
          <a:p>
            <a:pPr>
              <a:lnSpc>
                <a:spcPct val="115000"/>
              </a:lnSpc>
              <a:spcAft>
                <a:spcPts val="300"/>
              </a:spcAft>
              <a:defRPr sz="1200" b="0" i="0">
                <a:solidFill>
                  <a:srgbClr val="D1D5DB"/>
                </a:solidFill>
                <a:latin typeface="Calibri"/>
              </a:defRPr>
            </a:pPr>
            <a:r>
              <a:t>  • Netram Faran</a:t>
            </a:r>
          </a:p>
          <a:p>
            <a:pPr>
              <a:lnSpc>
                <a:spcPct val="115000"/>
              </a:lnSpc>
              <a:spcAft>
                <a:spcPts val="300"/>
              </a:spcAft>
              <a:defRPr sz="1200" b="0" i="0">
                <a:solidFill>
                  <a:srgbClr val="D1D5DB"/>
                </a:solidFill>
                <a:latin typeface="Calibri"/>
              </a:defRPr>
            </a:pPr>
            <a:r>
              <a:t>  • Aditya Prasad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